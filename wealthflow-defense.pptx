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WealthFlow, an AI-augmented stock research and paper trading platform built across 12 sprints over the past few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gap between learning about markets and risking real money. Beginners need a low-stakes environment that combines real market data with AI guidance and immediate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WealthFlow combines three things that usually live in three different products: a brokerage simulator, a research terminal, and an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build journey. Sprints 1 to 7 followed a public tutorial that established auth, watchlist, alerts, daily news, and TradingView widgets. Sprints 8 to 12 are entirely original work — paper trading, AI assistant, docs, landing page, and the defense prep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1 was about getting a project that looks intentional from the first commit. Next.js 16 with the App Router, Tailwind 4 with a custom dark palette, the brand yellow already in place. The header pattern established here is reused on every protected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embed TradingView's free widgets via script tags. Each widget gets its own config object. We don't pay for TradingView and we don't reinvent financial charting — but the dashboard already feels like a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Sign-up is more than email + password — we capture the user's investment profile here. That data is what makes the welcome email feel personal and what later feeds into the weekly AI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is a replica set by default — that's important later when we need transactions. We cache the connection because Next.js's dev hot-reload would otherwise leak Mongoose connections on every file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sprint introduced three new things at once: better-auth for sessions, Inngest as a job runner, and Gemini for AI personalization. The welcome email pulls the user's profile and asks Gemini to write a 2-sentence intro that references their goals and risk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multi-step Inngest workflow. Step 1 gets users, step 2 collects per-user news, step 3 summarizes via AI per user, step 4 sends emails. Each step is independently retried by Inngest if it fails — that's the durability you don't get from Vercel cron + raw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debounced + cached via React's cache() helper. Stock detail page embeds 5 different TradingView widgets — we never had to write a candlestick renderer. The Watchlist button uses optimistic UI: it toggles instantly, then reverts on server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fully-original sprint. The headline feature is the atomic trade — three writes in one MongoDB transaction so a crash mid-flight can't lose money even in paper trading. Equity curve is fed by a daily snapshot cron. Sector pie pulls finnhubIndustry from /profile2, cached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integration paths for AI on purpose. Chatbot uses direct REST because the user is staring at a 'Thinking...' spinner — latency wins. Sentiment cron uses step.ai because it's a background job where retries matter more than latency. The weekly recap is the most multi-step workflow in the system: build context per user, call AI per user, send emails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is what makes a PFA defensible. Five docs totalling about a thousand lines, plus seven Mermaid diagrams that render natively on GitHub and screenshot cleanly into the slide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is what the jury sees first if they browse the repo. Two-column hero with the actual dashboard image plus floating mock cards that preview real product features. Page-wide aurora gives it depth instead of feeling like a flat dark slab.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the defense prep was treated as a sprint. The deck regenerates from a single Node script — if I update the methodology doc, I can re-run and have an updated slide deck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stack — server-first Next.js, MongoDB Atlas, Inngest for background work, Google Gemini for AI. Next 6 slides walk through each tech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16 is the foundation. Every page is a Server Component by default, every mutation is a Server Action with the 'use server' directive at file level. Middleware reads the session cookie cheaply and redirects unauthenticated users to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technical fact about MongoDB here is that Atlas is a replica set, which gives us transactions. The trade engine is wrapped in a withTransaction block — three writes commit together or none of them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Better-auth handles all the password and session work — I never wrote my own crypto. The custom signup fields (country, risk tolerance, etc.) get stored automatically and are what later powers the personalized AI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Inngest is what makes the background AI work feel like a real product instead of a fragile shell script. Every cron function is a sequence of named steps — if any one fails, only that step retries. step.ai puts Gemini inside that retry loop so an AI failure doesn't kill the whole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Finnhub is the rate-limited dependency we have to be most careful with. Every cron deduplicates symbols across users — if 50 users hold AAPL, we hit Finnhub once for AAPL, not 50 times. Every fetch has a 5-second abort signal so the page doesn't hang for 10 seconds when the network is flaky.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for AI on purpose. Chatbot uses direct REST because the user is waiting — latency wins. Cron jobs use Inngest's step.ai because durability matters more — if the AI call fails, the step is retried automatically. responseSchema is the trick that makes the sentiment pipeline reliable — Gemini is forced to return JSON matching our exact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Client only renders. Next.js does the work — pages, server actions, middleware. Inngest hosts background jobs. MongoDB is our state. Gemini and Finnhub are our two main external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collections. Five are per-user. NewsSentiment is shared globally — sentiment for AAPL is the same whether you watch it or I do, so we score each article once. PortfolioSnapshot powers the equity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user clicks Buy, we run three writes in a single MongoDB transaction — debit cash, upsert the holding with weighted-average cost basis, insert a transaction row. All or nothing. A crash mid-flight can't lose money. This is why MongoDB Atlas matters — its replica set is what makes transactions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at 13:00 UTC, Inngest collects every symbol anyone is watching or holding, deduplicates, fetches news from Finnhub, and asks Gemini to score each article on a -1 to +1 scale. We use Gemini's responseSchema for guaranteed JSON output. Idempotency is layered twice — pre-check existing IDs and a unique index — so retries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Mondays at 14:00 UTC, every user gets a personalized email. We pull their portfolio's week-over-week change, top 5 watchlist stocks with sentiment, and their stated risk profile. All of that becomes the context for a Gemini prompt — and the prompt forbids inventing numbers or giving buy/sell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per-stock chatbot is a mini-RAG pattern. The user asks a question, we fetch live quote + profile + recent news in parallel, build a grounded system prompt, and call Gemini directly — not via Inngest, because the user is waiting. The system prompt explicitly bans personalized buy/sell recommendations — important regulatory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(5-7 min):
1. Land on landing page → click Get Started → sign up → land in dashboard.
2. Cmd+K search → AAPL.
3. Stock detail page → scroll to chat panel → click 'What's been happening recently?' suggestion.
4. Scroll to sentiment timeline at bottom of left column — explain bars + 7-day badge.
5. Click yellow Trade button → Buy 5 → toast confirmation.
6. Navigate to Portfolio → walk through summary cards, equity curve, sector pie, holdings table.
7. Add a sentiment alert → toggle Sentiment, threshold 0.5 upper, save.
8. Navigate to Leaderboard → point at trophy + 'You' pill.
9. Show inbox: welcome email + weekly recap.
10. (Optional) Inngest dashboard → show 7 functions registered.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Transparent up front: this project started from a public tutorial that gave me the auth + watchlist + alerts skeleton. Everything in rows 2-4 is original work. About 90% of the lines committed are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conscious cuts. The report has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another month, this is what I'd add —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cleanly. Thank the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Q&amp;A:
Q1. Isn't this just the JSM Signalist tutorial?
A1. Sprints 1-7 followed it (auth, watchlist, daily news, TradingView). Sprints 8-12 are entirely mine. ~90% of committed lines mine. Documented in PFA_LOG.
Q2. How are trades atomic?
A2. MongoDB transactions in a single withTransaction block — three writes (cash, holding, transaction row) all-or-nothing. Atlas runs as a replica set.
Q3. Why MongoDB?
A3. Schema flexibility during the build + Atlas's replica-set transactions for trade engine.
Q4. Why two AI integration paths?
A4. Direct REST for chatbot (request-scoped latency wins). step.ai for cron (durability wins). One pattern can't fit both.
Q5. Sentiment accuracy?
A5. Not formally measured. Future work — labeled validation set + precision/recall.
Q6. What if Gemini is down?
A6. All AI features degrade gracefully — toast errors, empty charts, app keeps running.
Q7. How do you handle Finnhub rate limits?
A7. Cross-user symbol dedupe in every cron, 24h cache on profile data, 5s timeout per call, allSettled in chatbot.
Q8. Security?
A8. better-auth handles passwords + sessions. Env-var secrets. Middleware gate. No SQL = no injection. Chat prompt bans buy/sell advice.
Q9. What was hardest?
A9. (1) MongoDB transactions inside server actions — Mongoose session API has gotchas. (2) Designing sentiment pipeline to be idempotent under Inngest retries.
Q10. How would you scale to 10k users?
A10. Symbol dedupe already keeps external API cost sub-linear. Add Redis cache for hot reads (leaderboard). Inngest steps already parallelize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FDD458"/>
          </a:solidFill>
          <a:ln/>
        </p:spPr>
      </p:sp>
      <p:sp>
        <p:nvSpPr>
          <p:cNvPr id="3" name="Text 1"/>
          <p:cNvSpPr/>
          <p:nvPr/>
        </p:nvSpPr>
        <p:spPr>
          <a:xfrm>
            <a:off x="914400" y="2103120"/>
            <a:ext cx="10360152" cy="1280160"/>
          </a:xfrm>
          <a:prstGeom prst="rect">
            <a:avLst/>
          </a:prstGeom>
          <a:noFill/>
          <a:ln/>
        </p:spPr>
        <p:txBody>
          <a:bodyPr wrap="square" rtlCol="0" anchor="ctr"/>
          <a:lstStyle/>
          <a:p>
            <a:pPr algn="ctr" indent="0" marL="0">
              <a:buNone/>
            </a:pPr>
            <a:r>
              <a:rPr lang="en-US" sz="8000" b="1" dirty="0">
                <a:solidFill>
                  <a:srgbClr val="FDD458"/>
                </a:solidFill>
                <a:latin typeface="Calibri" pitchFamily="34" charset="0"/>
                <a:ea typeface="Calibri" pitchFamily="34" charset="-122"/>
                <a:cs typeface="Calibri" pitchFamily="34" charset="-120"/>
              </a:rPr>
              <a:t>WealthFlow</a:t>
            </a:r>
            <a:endParaRPr lang="en-US" sz="8000" dirty="0"/>
          </a:p>
        </p:txBody>
      </p:sp>
      <p:sp>
        <p:nvSpPr>
          <p:cNvPr id="4" name="Text 2"/>
          <p:cNvSpPr/>
          <p:nvPr/>
        </p:nvSpPr>
        <p:spPr>
          <a:xfrm>
            <a:off x="914400" y="3474720"/>
            <a:ext cx="10360152" cy="640080"/>
          </a:xfrm>
          <a:prstGeom prst="rect">
            <a:avLst/>
          </a:prstGeom>
          <a:noFill/>
          <a:ln/>
        </p:spPr>
        <p:txBody>
          <a:bodyPr wrap="square" rtlCol="0" anchor="ctr"/>
          <a:lstStyle/>
          <a:p>
            <a:pPr algn="ctr" indent="0" marL="0">
              <a:buNone/>
            </a:pPr>
            <a:r>
              <a:rPr lang="en-US" sz="2200" dirty="0">
                <a:solidFill>
                  <a:srgbClr val="CCDADC"/>
                </a:solidFill>
                <a:latin typeface="Calibri" pitchFamily="34" charset="0"/>
                <a:ea typeface="Calibri" pitchFamily="34" charset="-122"/>
                <a:cs typeface="Calibri" pitchFamily="34" charset="-120"/>
              </a:rPr>
              <a:t>AI-augmented stock research and paper trading platform</a:t>
            </a:r>
            <a:endParaRPr lang="en-US" sz="2200" dirty="0"/>
          </a:p>
        </p:txBody>
      </p:sp>
      <p:sp>
        <p:nvSpPr>
          <p:cNvPr id="5" name="Shape 3"/>
          <p:cNvSpPr/>
          <p:nvPr/>
        </p:nvSpPr>
        <p:spPr>
          <a:xfrm>
            <a:off x="5029200" y="4754880"/>
            <a:ext cx="2130552" cy="0"/>
          </a:xfrm>
          <a:prstGeom prst="line">
            <a:avLst/>
          </a:prstGeom>
          <a:noFill/>
          <a:ln w="12700">
            <a:solidFill>
              <a:srgbClr val="30333A"/>
            </a:solidFill>
            <a:prstDash val="solid"/>
          </a:ln>
        </p:spPr>
      </p:sp>
      <p:sp>
        <p:nvSpPr>
          <p:cNvPr id="6" name="Text 4"/>
          <p:cNvSpPr/>
          <p:nvPr/>
        </p:nvSpPr>
        <p:spPr>
          <a:xfrm>
            <a:off x="914400" y="4937760"/>
            <a:ext cx="10360152" cy="365760"/>
          </a:xfrm>
          <a:prstGeom prst="rect">
            <a:avLst/>
          </a:prstGeom>
          <a:noFill/>
          <a:ln/>
        </p:spPr>
        <p:txBody>
          <a:bodyPr wrap="square" rtlCol="0" anchor="ctr"/>
          <a:lstStyle/>
          <a:p>
            <a:pPr algn="ctr" indent="0" marL="0">
              <a:buNone/>
            </a:pPr>
            <a:r>
              <a:rPr lang="en-US" sz="1600" dirty="0">
                <a:solidFill>
                  <a:srgbClr val="CCDADC"/>
                </a:solidFill>
                <a:latin typeface="Calibri" pitchFamily="34" charset="0"/>
                <a:ea typeface="Calibri" pitchFamily="34" charset="-122"/>
                <a:cs typeface="Calibri" pitchFamily="34" charset="-120"/>
              </a:rPr>
              <a:t>PFA Defense</a:t>
            </a:r>
            <a:endParaRPr lang="en-US" sz="1600" dirty="0"/>
          </a:p>
        </p:txBody>
      </p:sp>
      <p:sp>
        <p:nvSpPr>
          <p:cNvPr id="7" name="Text 5"/>
          <p:cNvSpPr/>
          <p:nvPr/>
        </p:nvSpPr>
        <p:spPr>
          <a:xfrm>
            <a:off x="914400" y="5349240"/>
            <a:ext cx="10360152" cy="365760"/>
          </a:xfrm>
          <a:prstGeom prst="rect">
            <a:avLst/>
          </a:prstGeom>
          <a:noFill/>
          <a:ln/>
        </p:spPr>
        <p:txBody>
          <a:bodyPr wrap="square" rtlCol="0" anchor="ctr"/>
          <a:lstStyle/>
          <a:p>
            <a:pPr algn="ctr" indent="0" marL="0">
              <a:buNone/>
            </a:pPr>
            <a:r>
              <a:rPr lang="en-US" sz="1300" dirty="0">
                <a:solidFill>
                  <a:srgbClr val="9095A1"/>
                </a:solidFill>
                <a:latin typeface="Calibri" pitchFamily="34" charset="0"/>
                <a:ea typeface="Calibri" pitchFamily="34" charset="-122"/>
                <a:cs typeface="Calibri" pitchFamily="34" charset="-120"/>
              </a:rPr>
              <a:t>[Your Name]   ·   Supervisor: [Supervisor Name]   ·   [Date]</a:t>
            </a:r>
            <a:endParaRPr lang="en-US" sz="1300" dirty="0"/>
          </a:p>
        </p:txBody>
      </p:sp>
      <p:sp>
        <p:nvSpPr>
          <p:cNvPr id="8" name="Text 6"/>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9" name="Text 7"/>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Agenda</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Text 4"/>
          <p:cNvSpPr/>
          <p:nvPr/>
        </p:nvSpPr>
        <p:spPr>
          <a:xfrm>
            <a:off x="1828800" y="16459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3017520" y="16459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The problem &amp; the pitch</a:t>
            </a:r>
            <a:endParaRPr lang="en-US" sz="2200" dirty="0"/>
          </a:p>
        </p:txBody>
      </p:sp>
      <p:sp>
        <p:nvSpPr>
          <p:cNvPr id="8" name="Text 6"/>
          <p:cNvSpPr/>
          <p:nvPr/>
        </p:nvSpPr>
        <p:spPr>
          <a:xfrm>
            <a:off x="1828800" y="23317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02</a:t>
            </a:r>
            <a:endParaRPr lang="en-US" sz="2800" dirty="0"/>
          </a:p>
        </p:txBody>
      </p:sp>
      <p:sp>
        <p:nvSpPr>
          <p:cNvPr id="9" name="Text 7"/>
          <p:cNvSpPr/>
          <p:nvPr/>
        </p:nvSpPr>
        <p:spPr>
          <a:xfrm>
            <a:off x="3017520" y="23317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Sprint-by-sprint build journey (12 sprints)</a:t>
            </a:r>
            <a:endParaRPr lang="en-US" sz="2200" dirty="0"/>
          </a:p>
        </p:txBody>
      </p:sp>
      <p:sp>
        <p:nvSpPr>
          <p:cNvPr id="10" name="Text 8"/>
          <p:cNvSpPr/>
          <p:nvPr/>
        </p:nvSpPr>
        <p:spPr>
          <a:xfrm>
            <a:off x="1828800" y="30175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03</a:t>
            </a:r>
            <a:endParaRPr lang="en-US" sz="2800" dirty="0"/>
          </a:p>
        </p:txBody>
      </p:sp>
      <p:sp>
        <p:nvSpPr>
          <p:cNvPr id="11" name="Text 9"/>
          <p:cNvSpPr/>
          <p:nvPr/>
        </p:nvSpPr>
        <p:spPr>
          <a:xfrm>
            <a:off x="3017520" y="30175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Tech stack — deep dive</a:t>
            </a:r>
            <a:endParaRPr lang="en-US" sz="2200" dirty="0"/>
          </a:p>
        </p:txBody>
      </p:sp>
      <p:sp>
        <p:nvSpPr>
          <p:cNvPr id="12" name="Text 10"/>
          <p:cNvSpPr/>
          <p:nvPr/>
        </p:nvSpPr>
        <p:spPr>
          <a:xfrm>
            <a:off x="1828800" y="37033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04</a:t>
            </a:r>
            <a:endParaRPr lang="en-US" sz="2800" dirty="0"/>
          </a:p>
        </p:txBody>
      </p:sp>
      <p:sp>
        <p:nvSpPr>
          <p:cNvPr id="13" name="Text 11"/>
          <p:cNvSpPr/>
          <p:nvPr/>
        </p:nvSpPr>
        <p:spPr>
          <a:xfrm>
            <a:off x="3017520" y="37033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Architecture &amp; key pipelines</a:t>
            </a:r>
            <a:endParaRPr lang="en-US" sz="2200" dirty="0"/>
          </a:p>
        </p:txBody>
      </p:sp>
      <p:sp>
        <p:nvSpPr>
          <p:cNvPr id="14" name="Text 12"/>
          <p:cNvSpPr/>
          <p:nvPr/>
        </p:nvSpPr>
        <p:spPr>
          <a:xfrm>
            <a:off x="1828800" y="43891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05</a:t>
            </a:r>
            <a:endParaRPr lang="en-US" sz="2800" dirty="0"/>
          </a:p>
        </p:txBody>
      </p:sp>
      <p:sp>
        <p:nvSpPr>
          <p:cNvPr id="15" name="Text 13"/>
          <p:cNvSpPr/>
          <p:nvPr/>
        </p:nvSpPr>
        <p:spPr>
          <a:xfrm>
            <a:off x="3017520" y="43891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Live demo</a:t>
            </a:r>
            <a:endParaRPr lang="en-US" sz="2200" dirty="0"/>
          </a:p>
        </p:txBody>
      </p:sp>
      <p:sp>
        <p:nvSpPr>
          <p:cNvPr id="16" name="Text 14"/>
          <p:cNvSpPr/>
          <p:nvPr/>
        </p:nvSpPr>
        <p:spPr>
          <a:xfrm>
            <a:off x="1828800" y="5074920"/>
            <a:ext cx="1097280" cy="548640"/>
          </a:xfrm>
          <a:prstGeom prst="rect">
            <a:avLst/>
          </a:prstGeom>
          <a:noFill/>
          <a:ln/>
        </p:spPr>
        <p:txBody>
          <a:bodyPr wrap="square" rtlCol="0" anchor="ctr"/>
          <a:lstStyle/>
          <a:p>
            <a:pPr indent="0" marL="0">
              <a:buNone/>
            </a:pPr>
            <a:r>
              <a:rPr lang="en-US" sz="2800" b="1" dirty="0">
                <a:solidFill>
                  <a:srgbClr val="FDD458"/>
                </a:solidFill>
                <a:latin typeface="Calibri" pitchFamily="34" charset="0"/>
                <a:ea typeface="Calibri" pitchFamily="34" charset="-122"/>
                <a:cs typeface="Calibri" pitchFamily="34" charset="-120"/>
              </a:rPr>
              <a:t>06</a:t>
            </a:r>
            <a:endParaRPr lang="en-US" sz="2800" dirty="0"/>
          </a:p>
        </p:txBody>
      </p:sp>
      <p:sp>
        <p:nvSpPr>
          <p:cNvPr id="17" name="Text 15"/>
          <p:cNvSpPr/>
          <p:nvPr/>
        </p:nvSpPr>
        <p:spPr>
          <a:xfrm>
            <a:off x="3017520" y="5074920"/>
            <a:ext cx="7315200" cy="548640"/>
          </a:xfrm>
          <a:prstGeom prst="rect">
            <a:avLst/>
          </a:prstGeom>
          <a:noFill/>
          <a:ln/>
        </p:spPr>
        <p:txBody>
          <a:bodyPr wrap="square" rtlCol="0" anchor="ctr"/>
          <a:lstStyle/>
          <a:p>
            <a:pPr indent="0" marL="0">
              <a:buNone/>
            </a:pPr>
            <a:r>
              <a:rPr lang="en-US" sz="2200" dirty="0">
                <a:solidFill>
                  <a:srgbClr val="CCDADC"/>
                </a:solidFill>
                <a:latin typeface="Calibri" pitchFamily="34" charset="0"/>
                <a:ea typeface="Calibri" pitchFamily="34" charset="-122"/>
                <a:cs typeface="Calibri" pitchFamily="34" charset="-120"/>
              </a:rPr>
              <a:t>Limitations &amp; next steps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problem</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1371600" y="1920240"/>
            <a:ext cx="9445752" cy="960120"/>
          </a:xfrm>
          <a:prstGeom prst="roundRect">
            <a:avLst>
              <a:gd name="adj" fmla="val 7619"/>
            </a:avLst>
          </a:prstGeom>
          <a:solidFill>
            <a:srgbClr val="141414"/>
          </a:solidFill>
          <a:ln w="12700">
            <a:solidFill>
              <a:srgbClr val="30333A"/>
            </a:solidFill>
            <a:prstDash val="solid"/>
          </a:ln>
        </p:spPr>
      </p:sp>
      <p:sp>
        <p:nvSpPr>
          <p:cNvPr id="7" name="Shape 5"/>
          <p:cNvSpPr/>
          <p:nvPr/>
        </p:nvSpPr>
        <p:spPr>
          <a:xfrm>
            <a:off x="1371600" y="1920240"/>
            <a:ext cx="109728" cy="960120"/>
          </a:xfrm>
          <a:prstGeom prst="rect">
            <a:avLst/>
          </a:prstGeom>
          <a:solidFill>
            <a:srgbClr val="FF495B"/>
          </a:solidFill>
          <a:ln/>
        </p:spPr>
      </p:sp>
      <p:sp>
        <p:nvSpPr>
          <p:cNvPr id="8" name="Text 6"/>
          <p:cNvSpPr/>
          <p:nvPr/>
        </p:nvSpPr>
        <p:spPr>
          <a:xfrm>
            <a:off x="1691640" y="2057400"/>
            <a:ext cx="2743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 brokers</a:t>
            </a:r>
            <a:endParaRPr lang="en-US" sz="1800" dirty="0"/>
          </a:p>
        </p:txBody>
      </p:sp>
      <p:sp>
        <p:nvSpPr>
          <p:cNvPr id="9" name="Text 7"/>
          <p:cNvSpPr/>
          <p:nvPr/>
        </p:nvSpPr>
        <p:spPr>
          <a:xfrm>
            <a:off x="1691640" y="2423160"/>
            <a:ext cx="2743200" cy="365760"/>
          </a:xfrm>
          <a:prstGeom prst="rect">
            <a:avLst/>
          </a:prstGeom>
          <a:noFill/>
          <a:ln/>
        </p:spPr>
        <p:txBody>
          <a:bodyPr wrap="square" rtlCol="0" anchor="ctr"/>
          <a:lstStyle/>
          <a:p>
            <a:pPr indent="0" marL="0">
              <a:buNone/>
            </a:pPr>
            <a:r>
              <a:rPr lang="en-US" sz="1200" i="1" dirty="0">
                <a:solidFill>
                  <a:srgbClr val="9095A1"/>
                </a:solidFill>
                <a:latin typeface="Calibri" pitchFamily="34" charset="0"/>
                <a:ea typeface="Calibri" pitchFamily="34" charset="-122"/>
                <a:cs typeface="Calibri" pitchFamily="34" charset="-120"/>
              </a:rPr>
              <a:t>Robinhood, eToro, …</a:t>
            </a:r>
            <a:endParaRPr lang="en-US" sz="1200" dirty="0"/>
          </a:p>
        </p:txBody>
      </p:sp>
      <p:sp>
        <p:nvSpPr>
          <p:cNvPr id="10" name="Text 8"/>
          <p:cNvSpPr/>
          <p:nvPr/>
        </p:nvSpPr>
        <p:spPr>
          <a:xfrm>
            <a:off x="4572000" y="2194560"/>
            <a:ext cx="5943600" cy="457200"/>
          </a:xfrm>
          <a:prstGeom prst="rect">
            <a:avLst/>
          </a:prstGeom>
          <a:noFill/>
          <a:ln/>
        </p:spPr>
        <p:txBody>
          <a:bodyPr wrap="square" rtlCol="0" anchor="ctr"/>
          <a:lstStyle/>
          <a:p>
            <a:pPr indent="0" marL="0">
              <a:buNone/>
            </a:pPr>
            <a:r>
              <a:rPr lang="en-US" sz="1600" dirty="0">
                <a:solidFill>
                  <a:srgbClr val="CCDADC"/>
                </a:solidFill>
                <a:latin typeface="Calibri" pitchFamily="34" charset="0"/>
                <a:ea typeface="Calibri" pitchFamily="34" charset="-122"/>
                <a:cs typeface="Calibri" pitchFamily="34" charset="-120"/>
              </a:rPr>
              <a:t>Real money. Scary for beginners.</a:t>
            </a:r>
            <a:endParaRPr lang="en-US" sz="1600" dirty="0"/>
          </a:p>
        </p:txBody>
      </p:sp>
      <p:sp>
        <p:nvSpPr>
          <p:cNvPr id="11" name="Shape 9"/>
          <p:cNvSpPr/>
          <p:nvPr/>
        </p:nvSpPr>
        <p:spPr>
          <a:xfrm>
            <a:off x="1371600" y="3108960"/>
            <a:ext cx="9445752" cy="960120"/>
          </a:xfrm>
          <a:prstGeom prst="roundRect">
            <a:avLst>
              <a:gd name="adj" fmla="val 7619"/>
            </a:avLst>
          </a:prstGeom>
          <a:solidFill>
            <a:srgbClr val="141414"/>
          </a:solidFill>
          <a:ln w="12700">
            <a:solidFill>
              <a:srgbClr val="30333A"/>
            </a:solidFill>
            <a:prstDash val="solid"/>
          </a:ln>
        </p:spPr>
      </p:sp>
      <p:sp>
        <p:nvSpPr>
          <p:cNvPr id="12" name="Shape 10"/>
          <p:cNvSpPr/>
          <p:nvPr/>
        </p:nvSpPr>
        <p:spPr>
          <a:xfrm>
            <a:off x="1371600" y="3108960"/>
            <a:ext cx="109728" cy="960120"/>
          </a:xfrm>
          <a:prstGeom prst="rect">
            <a:avLst/>
          </a:prstGeom>
          <a:solidFill>
            <a:srgbClr val="5862FF"/>
          </a:solidFill>
          <a:ln/>
        </p:spPr>
      </p:sp>
      <p:sp>
        <p:nvSpPr>
          <p:cNvPr id="13" name="Text 11"/>
          <p:cNvSpPr/>
          <p:nvPr/>
        </p:nvSpPr>
        <p:spPr>
          <a:xfrm>
            <a:off x="1691640" y="3246120"/>
            <a:ext cx="2743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sites</a:t>
            </a:r>
            <a:endParaRPr lang="en-US" sz="1800" dirty="0"/>
          </a:p>
        </p:txBody>
      </p:sp>
      <p:sp>
        <p:nvSpPr>
          <p:cNvPr id="14" name="Text 12"/>
          <p:cNvSpPr/>
          <p:nvPr/>
        </p:nvSpPr>
        <p:spPr>
          <a:xfrm>
            <a:off x="1691640" y="3611880"/>
            <a:ext cx="2743200" cy="365760"/>
          </a:xfrm>
          <a:prstGeom prst="rect">
            <a:avLst/>
          </a:prstGeom>
          <a:noFill/>
          <a:ln/>
        </p:spPr>
        <p:txBody>
          <a:bodyPr wrap="square" rtlCol="0" anchor="ctr"/>
          <a:lstStyle/>
          <a:p>
            <a:pPr indent="0" marL="0">
              <a:buNone/>
            </a:pPr>
            <a:r>
              <a:rPr lang="en-US" sz="1200" i="1" dirty="0">
                <a:solidFill>
                  <a:srgbClr val="9095A1"/>
                </a:solidFill>
                <a:latin typeface="Calibri" pitchFamily="34" charset="0"/>
                <a:ea typeface="Calibri" pitchFamily="34" charset="-122"/>
                <a:cs typeface="Calibri" pitchFamily="34" charset="-120"/>
              </a:rPr>
              <a:t>Yahoo Finance, Bloomberg</a:t>
            </a:r>
            <a:endParaRPr lang="en-US" sz="1200" dirty="0"/>
          </a:p>
        </p:txBody>
      </p:sp>
      <p:sp>
        <p:nvSpPr>
          <p:cNvPr id="15" name="Text 13"/>
          <p:cNvSpPr/>
          <p:nvPr/>
        </p:nvSpPr>
        <p:spPr>
          <a:xfrm>
            <a:off x="4572000" y="3383280"/>
            <a:ext cx="5943600" cy="457200"/>
          </a:xfrm>
          <a:prstGeom prst="rect">
            <a:avLst/>
          </a:prstGeom>
          <a:noFill/>
          <a:ln/>
        </p:spPr>
        <p:txBody>
          <a:bodyPr wrap="square" rtlCol="0" anchor="ctr"/>
          <a:lstStyle/>
          <a:p>
            <a:pPr indent="0" marL="0">
              <a:buNone/>
            </a:pPr>
            <a:r>
              <a:rPr lang="en-US" sz="1600" dirty="0">
                <a:solidFill>
                  <a:srgbClr val="CCDADC"/>
                </a:solidFill>
                <a:latin typeface="Calibri" pitchFamily="34" charset="0"/>
                <a:ea typeface="Calibri" pitchFamily="34" charset="-122"/>
                <a:cs typeface="Calibri" pitchFamily="34" charset="-120"/>
              </a:rPr>
              <a:t>Information without practice or AI assistance.</a:t>
            </a:r>
            <a:endParaRPr lang="en-US" sz="1600" dirty="0"/>
          </a:p>
        </p:txBody>
      </p:sp>
      <p:sp>
        <p:nvSpPr>
          <p:cNvPr id="16" name="Shape 14"/>
          <p:cNvSpPr/>
          <p:nvPr/>
        </p:nvSpPr>
        <p:spPr>
          <a:xfrm>
            <a:off x="1371600" y="4297680"/>
            <a:ext cx="9445752" cy="960120"/>
          </a:xfrm>
          <a:prstGeom prst="roundRect">
            <a:avLst>
              <a:gd name="adj" fmla="val 7619"/>
            </a:avLst>
          </a:prstGeom>
          <a:solidFill>
            <a:srgbClr val="141414"/>
          </a:solidFill>
          <a:ln w="12700">
            <a:solidFill>
              <a:srgbClr val="30333A"/>
            </a:solidFill>
            <a:prstDash val="solid"/>
          </a:ln>
        </p:spPr>
      </p:sp>
      <p:sp>
        <p:nvSpPr>
          <p:cNvPr id="17" name="Shape 15"/>
          <p:cNvSpPr/>
          <p:nvPr/>
        </p:nvSpPr>
        <p:spPr>
          <a:xfrm>
            <a:off x="1371600" y="4297680"/>
            <a:ext cx="109728" cy="960120"/>
          </a:xfrm>
          <a:prstGeom prst="rect">
            <a:avLst/>
          </a:prstGeom>
          <a:solidFill>
            <a:srgbClr val="9095A1"/>
          </a:solidFill>
          <a:ln/>
        </p:spPr>
      </p:sp>
      <p:sp>
        <p:nvSpPr>
          <p:cNvPr id="18" name="Text 16"/>
          <p:cNvSpPr/>
          <p:nvPr/>
        </p:nvSpPr>
        <p:spPr>
          <a:xfrm>
            <a:off x="1691640" y="4434840"/>
            <a:ext cx="2743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Tutorials</a:t>
            </a:r>
            <a:endParaRPr lang="en-US" sz="1800" dirty="0"/>
          </a:p>
        </p:txBody>
      </p:sp>
      <p:sp>
        <p:nvSpPr>
          <p:cNvPr id="19" name="Text 17"/>
          <p:cNvSpPr/>
          <p:nvPr/>
        </p:nvSpPr>
        <p:spPr>
          <a:xfrm>
            <a:off x="1691640" y="4800600"/>
            <a:ext cx="2743200" cy="365760"/>
          </a:xfrm>
          <a:prstGeom prst="rect">
            <a:avLst/>
          </a:prstGeom>
          <a:noFill/>
          <a:ln/>
        </p:spPr>
        <p:txBody>
          <a:bodyPr wrap="square" rtlCol="0" anchor="ctr"/>
          <a:lstStyle/>
          <a:p>
            <a:pPr indent="0" marL="0">
              <a:buNone/>
            </a:pPr>
            <a:r>
              <a:rPr lang="en-US" sz="1200" i="1" dirty="0">
                <a:solidFill>
                  <a:srgbClr val="9095A1"/>
                </a:solidFill>
                <a:latin typeface="Calibri" pitchFamily="34" charset="0"/>
                <a:ea typeface="Calibri" pitchFamily="34" charset="-122"/>
                <a:cs typeface="Calibri" pitchFamily="34" charset="-120"/>
              </a:rPr>
              <a:t>YouTube, courses</a:t>
            </a:r>
            <a:endParaRPr lang="en-US" sz="1200" dirty="0"/>
          </a:p>
        </p:txBody>
      </p:sp>
      <p:sp>
        <p:nvSpPr>
          <p:cNvPr id="20" name="Text 18"/>
          <p:cNvSpPr/>
          <p:nvPr/>
        </p:nvSpPr>
        <p:spPr>
          <a:xfrm>
            <a:off x="4572000" y="4572000"/>
            <a:ext cx="5943600" cy="457200"/>
          </a:xfrm>
          <a:prstGeom prst="rect">
            <a:avLst/>
          </a:prstGeom>
          <a:noFill/>
          <a:ln/>
        </p:spPr>
        <p:txBody>
          <a:bodyPr wrap="square" rtlCol="0" anchor="ctr"/>
          <a:lstStyle/>
          <a:p>
            <a:pPr indent="0" marL="0">
              <a:buNone/>
            </a:pPr>
            <a:r>
              <a:rPr lang="en-US" sz="1600" dirty="0">
                <a:solidFill>
                  <a:srgbClr val="CCDADC"/>
                </a:solidFill>
                <a:latin typeface="Calibri" pitchFamily="34" charset="0"/>
                <a:ea typeface="Calibri" pitchFamily="34" charset="-122"/>
                <a:cs typeface="Calibri" pitchFamily="34" charset="-120"/>
              </a:rPr>
              <a:t>Static. No live data. No learning loop.</a:t>
            </a:r>
            <a:endParaRPr lang="en-US" sz="1600" dirty="0"/>
          </a:p>
        </p:txBody>
      </p:sp>
      <p:sp>
        <p:nvSpPr>
          <p:cNvPr id="21" name="Text 19"/>
          <p:cNvSpPr/>
          <p:nvPr/>
        </p:nvSpPr>
        <p:spPr>
          <a:xfrm>
            <a:off x="1371600" y="5760720"/>
            <a:ext cx="9445752" cy="457200"/>
          </a:xfrm>
          <a:prstGeom prst="rect">
            <a:avLst/>
          </a:prstGeom>
          <a:noFill/>
          <a:ln/>
        </p:spPr>
        <p:txBody>
          <a:bodyPr wrap="square" rtlCol="0" anchor="ctr"/>
          <a:lstStyle/>
          <a:p>
            <a:pPr algn="ctr" indent="0" marL="0">
              <a:buNone/>
            </a:pPr>
            <a:r>
              <a:rPr lang="en-US" sz="1400" i="1" dirty="0">
                <a:solidFill>
                  <a:srgbClr val="FDD458"/>
                </a:solidFill>
                <a:latin typeface="Calibri" pitchFamily="34" charset="0"/>
                <a:ea typeface="Calibri" pitchFamily="34" charset="-122"/>
                <a:cs typeface="Calibri" pitchFamily="34" charset="-120"/>
              </a:rPr>
              <a:t>Beginners need a low-stakes environment that combines real market data with AI guidance and immediate feedback.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WealthFlow — the pitch</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Text 4"/>
          <p:cNvSpPr/>
          <p:nvPr/>
        </p:nvSpPr>
        <p:spPr>
          <a:xfrm>
            <a:off x="1371600" y="2286000"/>
            <a:ext cx="9445752" cy="22860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Paper-trade real markets with $100k of virtual cash, with an AI that explains what's happening and watches the news for you.</a:t>
            </a:r>
            <a:endParaRPr lang="en-US" sz="2800" dirty="0"/>
          </a:p>
        </p:txBody>
      </p:sp>
      <p:sp>
        <p:nvSpPr>
          <p:cNvPr id="7" name="Shape 5"/>
          <p:cNvSpPr/>
          <p:nvPr/>
        </p:nvSpPr>
        <p:spPr>
          <a:xfrm>
            <a:off x="4572000" y="4937760"/>
            <a:ext cx="3044952" cy="0"/>
          </a:xfrm>
          <a:prstGeom prst="line">
            <a:avLst/>
          </a:prstGeom>
          <a:noFill/>
          <a:ln w="38100">
            <a:solidFill>
              <a:srgbClr val="FDD458"/>
            </a:solidFill>
            <a:prstDash val="solid"/>
          </a:ln>
        </p:spPr>
      </p:sp>
      <p:sp>
        <p:nvSpPr>
          <p:cNvPr id="8" name="Text 6"/>
          <p:cNvSpPr/>
          <p:nvPr/>
        </p:nvSpPr>
        <p:spPr>
          <a:xfrm>
            <a:off x="1371600" y="5212080"/>
            <a:ext cx="9445752" cy="457200"/>
          </a:xfrm>
          <a:prstGeom prst="rect">
            <a:avLst/>
          </a:prstGeom>
          <a:noFill/>
          <a:ln/>
        </p:spPr>
        <p:txBody>
          <a:bodyPr wrap="square" rtlCol="0" anchor="ctr"/>
          <a:lstStyle/>
          <a:p>
            <a:pPr algn="ctr" indent="0" marL="0">
              <a:buNone/>
            </a:pPr>
            <a:r>
              <a:rPr lang="en-US" sz="1600" i="1" dirty="0">
                <a:solidFill>
                  <a:srgbClr val="CCDADC"/>
                </a:solidFill>
                <a:latin typeface="Calibri" pitchFamily="34" charset="0"/>
                <a:ea typeface="Calibri" pitchFamily="34" charset="-122"/>
                <a:cs typeface="Calibri" pitchFamily="34" charset="-120"/>
              </a:rPr>
              <a:t>Brokerage simulator + research terminal + AI assistant — in one product.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Four pillars, one workspace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737360"/>
            <a:ext cx="2679192" cy="4114800"/>
          </a:xfrm>
          <a:prstGeom prst="roundRect">
            <a:avLst>
              <a:gd name="adj" fmla="val 3413"/>
            </a:avLst>
          </a:prstGeom>
          <a:solidFill>
            <a:srgbClr val="141414"/>
          </a:solidFill>
          <a:ln w="12700">
            <a:solidFill>
              <a:srgbClr val="30333A"/>
            </a:solidFill>
            <a:prstDash val="solid"/>
          </a:ln>
        </p:spPr>
      </p:sp>
      <p:sp>
        <p:nvSpPr>
          <p:cNvPr id="7" name="Shape 5"/>
          <p:cNvSpPr/>
          <p:nvPr/>
        </p:nvSpPr>
        <p:spPr>
          <a:xfrm>
            <a:off x="548640" y="1737360"/>
            <a:ext cx="2679192" cy="54864"/>
          </a:xfrm>
          <a:prstGeom prst="rect">
            <a:avLst/>
          </a:prstGeom>
          <a:solidFill>
            <a:srgbClr val="5862FF"/>
          </a:solidFill>
          <a:ln/>
        </p:spPr>
      </p:sp>
      <p:sp>
        <p:nvSpPr>
          <p:cNvPr id="8" name="Text 6"/>
          <p:cNvSpPr/>
          <p:nvPr/>
        </p:nvSpPr>
        <p:spPr>
          <a:xfrm>
            <a:off x="731520" y="1920240"/>
            <a:ext cx="2313432"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Markets &amp; research</a:t>
            </a:r>
            <a:endParaRPr lang="en-US" sz="1600" dirty="0"/>
          </a:p>
        </p:txBody>
      </p:sp>
      <p:sp>
        <p:nvSpPr>
          <p:cNvPr id="9" name="Text 7"/>
          <p:cNvSpPr/>
          <p:nvPr/>
        </p:nvSpPr>
        <p:spPr>
          <a:xfrm>
            <a:off x="731520" y="2423160"/>
            <a:ext cx="2313432" cy="324612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Live quotes (Finnhub)</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TradingView charts</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Search 10,000+ tickers</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Watchlist</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Daily AI news email</a:t>
            </a:r>
            <a:endParaRPr lang="en-US" sz="1100" dirty="0"/>
          </a:p>
        </p:txBody>
      </p:sp>
      <p:sp>
        <p:nvSpPr>
          <p:cNvPr id="10" name="Shape 8"/>
          <p:cNvSpPr/>
          <p:nvPr/>
        </p:nvSpPr>
        <p:spPr>
          <a:xfrm>
            <a:off x="3410712" y="1737360"/>
            <a:ext cx="2679192" cy="4114800"/>
          </a:xfrm>
          <a:prstGeom prst="roundRect">
            <a:avLst>
              <a:gd name="adj" fmla="val 3413"/>
            </a:avLst>
          </a:prstGeom>
          <a:solidFill>
            <a:srgbClr val="141414"/>
          </a:solidFill>
          <a:ln w="12700">
            <a:solidFill>
              <a:srgbClr val="30333A"/>
            </a:solidFill>
            <a:prstDash val="solid"/>
          </a:ln>
        </p:spPr>
      </p:sp>
      <p:sp>
        <p:nvSpPr>
          <p:cNvPr id="11" name="Shape 9"/>
          <p:cNvSpPr/>
          <p:nvPr/>
        </p:nvSpPr>
        <p:spPr>
          <a:xfrm>
            <a:off x="3410712" y="1737360"/>
            <a:ext cx="2679192" cy="54864"/>
          </a:xfrm>
          <a:prstGeom prst="rect">
            <a:avLst/>
          </a:prstGeom>
          <a:solidFill>
            <a:srgbClr val="FDD458"/>
          </a:solidFill>
          <a:ln/>
        </p:spPr>
      </p:sp>
      <p:sp>
        <p:nvSpPr>
          <p:cNvPr id="12" name="Text 10"/>
          <p:cNvSpPr/>
          <p:nvPr/>
        </p:nvSpPr>
        <p:spPr>
          <a:xfrm>
            <a:off x="3593592" y="1920240"/>
            <a:ext cx="2313432"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Paper trading</a:t>
            </a:r>
            <a:endParaRPr lang="en-US" sz="1600" dirty="0"/>
          </a:p>
        </p:txBody>
      </p:sp>
      <p:sp>
        <p:nvSpPr>
          <p:cNvPr id="13" name="Text 11"/>
          <p:cNvSpPr/>
          <p:nvPr/>
        </p:nvSpPr>
        <p:spPr>
          <a:xfrm>
            <a:off x="3593592" y="2423160"/>
            <a:ext cx="2313432" cy="324612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$100k virtual cash</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Atomic trades (Mongo tx)</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Equity curve</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Sector allocation</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Multi-user leaderboard</a:t>
            </a:r>
            <a:endParaRPr lang="en-US" sz="1100" dirty="0"/>
          </a:p>
        </p:txBody>
      </p:sp>
      <p:sp>
        <p:nvSpPr>
          <p:cNvPr id="14" name="Shape 12"/>
          <p:cNvSpPr/>
          <p:nvPr/>
        </p:nvSpPr>
        <p:spPr>
          <a:xfrm>
            <a:off x="6272784" y="1737360"/>
            <a:ext cx="2679192" cy="4114800"/>
          </a:xfrm>
          <a:prstGeom prst="roundRect">
            <a:avLst>
              <a:gd name="adj" fmla="val 3413"/>
            </a:avLst>
          </a:prstGeom>
          <a:solidFill>
            <a:srgbClr val="141414"/>
          </a:solidFill>
          <a:ln w="12700">
            <a:solidFill>
              <a:srgbClr val="30333A"/>
            </a:solidFill>
            <a:prstDash val="solid"/>
          </a:ln>
        </p:spPr>
      </p:sp>
      <p:sp>
        <p:nvSpPr>
          <p:cNvPr id="15" name="Shape 13"/>
          <p:cNvSpPr/>
          <p:nvPr/>
        </p:nvSpPr>
        <p:spPr>
          <a:xfrm>
            <a:off x="6272784" y="1737360"/>
            <a:ext cx="2679192" cy="54864"/>
          </a:xfrm>
          <a:prstGeom prst="rect">
            <a:avLst/>
          </a:prstGeom>
          <a:solidFill>
            <a:srgbClr val="D13BFF"/>
          </a:solidFill>
          <a:ln/>
        </p:spPr>
      </p:sp>
      <p:sp>
        <p:nvSpPr>
          <p:cNvPr id="16" name="Text 14"/>
          <p:cNvSpPr/>
          <p:nvPr/>
        </p:nvSpPr>
        <p:spPr>
          <a:xfrm>
            <a:off x="6455664" y="1920240"/>
            <a:ext cx="2313432"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 assistant</a:t>
            </a:r>
            <a:endParaRPr lang="en-US" sz="1600" dirty="0"/>
          </a:p>
        </p:txBody>
      </p:sp>
      <p:sp>
        <p:nvSpPr>
          <p:cNvPr id="17" name="Text 15"/>
          <p:cNvSpPr/>
          <p:nvPr/>
        </p:nvSpPr>
        <p:spPr>
          <a:xfrm>
            <a:off x="6455664" y="2423160"/>
            <a:ext cx="2313432" cy="324612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Per-stock chatbot</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News sentiment timeline</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Sentiment-shift alerts</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Weekly recap email</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Powered by Gemini</a:t>
            </a:r>
            <a:endParaRPr lang="en-US" sz="1100" dirty="0"/>
          </a:p>
        </p:txBody>
      </p:sp>
      <p:sp>
        <p:nvSpPr>
          <p:cNvPr id="18" name="Shape 16"/>
          <p:cNvSpPr/>
          <p:nvPr/>
        </p:nvSpPr>
        <p:spPr>
          <a:xfrm>
            <a:off x="9134856" y="1737360"/>
            <a:ext cx="2679192" cy="4114800"/>
          </a:xfrm>
          <a:prstGeom prst="roundRect">
            <a:avLst>
              <a:gd name="adj" fmla="val 3413"/>
            </a:avLst>
          </a:prstGeom>
          <a:solidFill>
            <a:srgbClr val="141414"/>
          </a:solidFill>
          <a:ln w="12700">
            <a:solidFill>
              <a:srgbClr val="30333A"/>
            </a:solidFill>
            <a:prstDash val="solid"/>
          </a:ln>
        </p:spPr>
      </p:sp>
      <p:sp>
        <p:nvSpPr>
          <p:cNvPr id="19" name="Shape 17"/>
          <p:cNvSpPr/>
          <p:nvPr/>
        </p:nvSpPr>
        <p:spPr>
          <a:xfrm>
            <a:off x="9134856" y="1737360"/>
            <a:ext cx="2679192" cy="54864"/>
          </a:xfrm>
          <a:prstGeom prst="rect">
            <a:avLst/>
          </a:prstGeom>
          <a:solidFill>
            <a:srgbClr val="0FEDBE"/>
          </a:solidFill>
          <a:ln/>
        </p:spPr>
      </p:sp>
      <p:sp>
        <p:nvSpPr>
          <p:cNvPr id="20" name="Text 18"/>
          <p:cNvSpPr/>
          <p:nvPr/>
        </p:nvSpPr>
        <p:spPr>
          <a:xfrm>
            <a:off x="9317736" y="1920240"/>
            <a:ext cx="2313432"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Alerts &amp; auth</a:t>
            </a:r>
            <a:endParaRPr lang="en-US" sz="1600" dirty="0"/>
          </a:p>
        </p:txBody>
      </p:sp>
      <p:sp>
        <p:nvSpPr>
          <p:cNvPr id="21" name="Text 19"/>
          <p:cNvSpPr/>
          <p:nvPr/>
        </p:nvSpPr>
        <p:spPr>
          <a:xfrm>
            <a:off x="9317736" y="2423160"/>
            <a:ext cx="2313432" cy="324612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Email/password sign-up</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Investment profile</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Price alerts (hourly)</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Sentiment alerts (hourly)</a:t>
            </a:r>
            <a:endParaRPr lang="en-US" sz="1100" dirty="0"/>
          </a:p>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 Forgot password flow</a:t>
            </a:r>
            <a:endParaRPr lang="en-US" sz="1100" dirty="0"/>
          </a:p>
        </p:txBody>
      </p:sp>
      <p:sp>
        <p:nvSpPr>
          <p:cNvPr id="22" name="Text 20"/>
          <p:cNvSpPr/>
          <p:nvPr/>
        </p:nvSpPr>
        <p:spPr>
          <a:xfrm>
            <a:off x="548640" y="5943600"/>
            <a:ext cx="11091672" cy="365760"/>
          </a:xfrm>
          <a:prstGeom prst="rect">
            <a:avLst/>
          </a:prstGeom>
          <a:noFill/>
          <a:ln/>
        </p:spPr>
        <p:txBody>
          <a:bodyPr wrap="square" rtlCol="0" anchor="ctr"/>
          <a:lstStyle/>
          <a:p>
            <a:pPr algn="ctr" indent="0" marL="0">
              <a:buNone/>
            </a:pPr>
            <a:r>
              <a:rPr lang="en-US" sz="1400" i="1" dirty="0">
                <a:solidFill>
                  <a:srgbClr val="9095A1"/>
                </a:solidFill>
                <a:latin typeface="Calibri" pitchFamily="34" charset="0"/>
                <a:ea typeface="Calibri" pitchFamily="34" charset="-122"/>
                <a:cs typeface="Calibri" pitchFamily="34" charset="-120"/>
              </a:rPr>
              <a:t>Behind these four pillars: a single Next.js app + 7 background jobs on Inngest.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roadmap</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12 sprints — 7 tutorial baseline, 5 original</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737360"/>
            <a:ext cx="1783080" cy="1828800"/>
          </a:xfrm>
          <a:prstGeom prst="roundRect">
            <a:avLst>
              <a:gd name="adj" fmla="val 4103"/>
            </a:avLst>
          </a:prstGeom>
          <a:solidFill>
            <a:srgbClr val="141414"/>
          </a:solidFill>
          <a:ln w="12700">
            <a:solidFill>
              <a:srgbClr val="30333A"/>
            </a:solidFill>
            <a:prstDash val="solid"/>
          </a:ln>
        </p:spPr>
      </p:sp>
      <p:sp>
        <p:nvSpPr>
          <p:cNvPr id="8" name="Shape 6"/>
          <p:cNvSpPr/>
          <p:nvPr/>
        </p:nvSpPr>
        <p:spPr>
          <a:xfrm>
            <a:off x="548640" y="1737360"/>
            <a:ext cx="1783080" cy="54864"/>
          </a:xfrm>
          <a:prstGeom prst="rect">
            <a:avLst/>
          </a:prstGeom>
          <a:solidFill>
            <a:srgbClr val="9095A1"/>
          </a:solidFill>
          <a:ln/>
        </p:spPr>
      </p:sp>
      <p:sp>
        <p:nvSpPr>
          <p:cNvPr id="9" name="Text 7"/>
          <p:cNvSpPr/>
          <p:nvPr/>
        </p:nvSpPr>
        <p:spPr>
          <a:xfrm>
            <a:off x="54864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01</a:t>
            </a:r>
            <a:endParaRPr lang="en-US" sz="1100" dirty="0"/>
          </a:p>
        </p:txBody>
      </p:sp>
      <p:sp>
        <p:nvSpPr>
          <p:cNvPr id="10" name="Text 8"/>
          <p:cNvSpPr/>
          <p:nvPr/>
        </p:nvSpPr>
        <p:spPr>
          <a:xfrm>
            <a:off x="68580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Header &amp; layout</a:t>
            </a:r>
            <a:endParaRPr lang="en-US" sz="1300" dirty="0"/>
          </a:p>
        </p:txBody>
      </p:sp>
      <p:sp>
        <p:nvSpPr>
          <p:cNvPr id="11" name="Shape 9"/>
          <p:cNvSpPr/>
          <p:nvPr/>
        </p:nvSpPr>
        <p:spPr>
          <a:xfrm>
            <a:off x="2468880" y="1737360"/>
            <a:ext cx="1783080" cy="1828800"/>
          </a:xfrm>
          <a:prstGeom prst="roundRect">
            <a:avLst>
              <a:gd name="adj" fmla="val 4103"/>
            </a:avLst>
          </a:prstGeom>
          <a:solidFill>
            <a:srgbClr val="141414"/>
          </a:solidFill>
          <a:ln w="12700">
            <a:solidFill>
              <a:srgbClr val="30333A"/>
            </a:solidFill>
            <a:prstDash val="solid"/>
          </a:ln>
        </p:spPr>
      </p:sp>
      <p:sp>
        <p:nvSpPr>
          <p:cNvPr id="12" name="Shape 10"/>
          <p:cNvSpPr/>
          <p:nvPr/>
        </p:nvSpPr>
        <p:spPr>
          <a:xfrm>
            <a:off x="2468880" y="1737360"/>
            <a:ext cx="1783080" cy="54864"/>
          </a:xfrm>
          <a:prstGeom prst="rect">
            <a:avLst/>
          </a:prstGeom>
          <a:solidFill>
            <a:srgbClr val="9095A1"/>
          </a:solidFill>
          <a:ln/>
        </p:spPr>
      </p:sp>
      <p:sp>
        <p:nvSpPr>
          <p:cNvPr id="13" name="Text 11"/>
          <p:cNvSpPr/>
          <p:nvPr/>
        </p:nvSpPr>
        <p:spPr>
          <a:xfrm>
            <a:off x="246888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02</a:t>
            </a:r>
            <a:endParaRPr lang="en-US" sz="1100" dirty="0"/>
          </a:p>
        </p:txBody>
      </p:sp>
      <p:sp>
        <p:nvSpPr>
          <p:cNvPr id="14" name="Text 12"/>
          <p:cNvSpPr/>
          <p:nvPr/>
        </p:nvSpPr>
        <p:spPr>
          <a:xfrm>
            <a:off x="260604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 + TradingView</a:t>
            </a:r>
            <a:endParaRPr lang="en-US" sz="1300" dirty="0"/>
          </a:p>
        </p:txBody>
      </p:sp>
      <p:sp>
        <p:nvSpPr>
          <p:cNvPr id="15" name="Shape 13"/>
          <p:cNvSpPr/>
          <p:nvPr/>
        </p:nvSpPr>
        <p:spPr>
          <a:xfrm>
            <a:off x="4389120" y="1737360"/>
            <a:ext cx="1783080" cy="1828800"/>
          </a:xfrm>
          <a:prstGeom prst="roundRect">
            <a:avLst>
              <a:gd name="adj" fmla="val 4103"/>
            </a:avLst>
          </a:prstGeom>
          <a:solidFill>
            <a:srgbClr val="141414"/>
          </a:solidFill>
          <a:ln w="12700">
            <a:solidFill>
              <a:srgbClr val="30333A"/>
            </a:solidFill>
            <a:prstDash val="solid"/>
          </a:ln>
        </p:spPr>
      </p:sp>
      <p:sp>
        <p:nvSpPr>
          <p:cNvPr id="16" name="Shape 14"/>
          <p:cNvSpPr/>
          <p:nvPr/>
        </p:nvSpPr>
        <p:spPr>
          <a:xfrm>
            <a:off x="4389120" y="1737360"/>
            <a:ext cx="1783080" cy="54864"/>
          </a:xfrm>
          <a:prstGeom prst="rect">
            <a:avLst/>
          </a:prstGeom>
          <a:solidFill>
            <a:srgbClr val="9095A1"/>
          </a:solidFill>
          <a:ln/>
        </p:spPr>
      </p:sp>
      <p:sp>
        <p:nvSpPr>
          <p:cNvPr id="17" name="Text 15"/>
          <p:cNvSpPr/>
          <p:nvPr/>
        </p:nvSpPr>
        <p:spPr>
          <a:xfrm>
            <a:off x="438912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03</a:t>
            </a:r>
            <a:endParaRPr lang="en-US" sz="1100" dirty="0"/>
          </a:p>
        </p:txBody>
      </p:sp>
      <p:sp>
        <p:nvSpPr>
          <p:cNvPr id="18" name="Text 16"/>
          <p:cNvSpPr/>
          <p:nvPr/>
        </p:nvSpPr>
        <p:spPr>
          <a:xfrm>
            <a:off x="452628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Auth UI</a:t>
            </a:r>
            <a:endParaRPr lang="en-US" sz="1300" dirty="0"/>
          </a:p>
        </p:txBody>
      </p:sp>
      <p:sp>
        <p:nvSpPr>
          <p:cNvPr id="19" name="Shape 17"/>
          <p:cNvSpPr/>
          <p:nvPr/>
        </p:nvSpPr>
        <p:spPr>
          <a:xfrm>
            <a:off x="6309360" y="1737360"/>
            <a:ext cx="1783080" cy="1828800"/>
          </a:xfrm>
          <a:prstGeom prst="roundRect">
            <a:avLst>
              <a:gd name="adj" fmla="val 4103"/>
            </a:avLst>
          </a:prstGeom>
          <a:solidFill>
            <a:srgbClr val="141414"/>
          </a:solidFill>
          <a:ln w="12700">
            <a:solidFill>
              <a:srgbClr val="30333A"/>
            </a:solidFill>
            <a:prstDash val="solid"/>
          </a:ln>
        </p:spPr>
      </p:sp>
      <p:sp>
        <p:nvSpPr>
          <p:cNvPr id="20" name="Shape 18"/>
          <p:cNvSpPr/>
          <p:nvPr/>
        </p:nvSpPr>
        <p:spPr>
          <a:xfrm>
            <a:off x="6309360" y="1737360"/>
            <a:ext cx="1783080" cy="54864"/>
          </a:xfrm>
          <a:prstGeom prst="rect">
            <a:avLst/>
          </a:prstGeom>
          <a:solidFill>
            <a:srgbClr val="9095A1"/>
          </a:solidFill>
          <a:ln/>
        </p:spPr>
      </p:sp>
      <p:sp>
        <p:nvSpPr>
          <p:cNvPr id="21" name="Text 19"/>
          <p:cNvSpPr/>
          <p:nvPr/>
        </p:nvSpPr>
        <p:spPr>
          <a:xfrm>
            <a:off x="630936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04</a:t>
            </a:r>
            <a:endParaRPr lang="en-US" sz="1100" dirty="0"/>
          </a:p>
        </p:txBody>
      </p:sp>
      <p:sp>
        <p:nvSpPr>
          <p:cNvPr id="22" name="Text 20"/>
          <p:cNvSpPr/>
          <p:nvPr/>
        </p:nvSpPr>
        <p:spPr>
          <a:xfrm>
            <a:off x="644652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DB &amp; Mongoose</a:t>
            </a:r>
            <a:endParaRPr lang="en-US" sz="1300" dirty="0"/>
          </a:p>
        </p:txBody>
      </p:sp>
      <p:sp>
        <p:nvSpPr>
          <p:cNvPr id="23" name="Shape 21"/>
          <p:cNvSpPr/>
          <p:nvPr/>
        </p:nvSpPr>
        <p:spPr>
          <a:xfrm>
            <a:off x="8229600" y="1737360"/>
            <a:ext cx="1783080" cy="1828800"/>
          </a:xfrm>
          <a:prstGeom prst="roundRect">
            <a:avLst>
              <a:gd name="adj" fmla="val 4103"/>
            </a:avLst>
          </a:prstGeom>
          <a:solidFill>
            <a:srgbClr val="141414"/>
          </a:solidFill>
          <a:ln w="12700">
            <a:solidFill>
              <a:srgbClr val="30333A"/>
            </a:solidFill>
            <a:prstDash val="solid"/>
          </a:ln>
        </p:spPr>
      </p:sp>
      <p:sp>
        <p:nvSpPr>
          <p:cNvPr id="24" name="Shape 22"/>
          <p:cNvSpPr/>
          <p:nvPr/>
        </p:nvSpPr>
        <p:spPr>
          <a:xfrm>
            <a:off x="8229600" y="1737360"/>
            <a:ext cx="1783080" cy="54864"/>
          </a:xfrm>
          <a:prstGeom prst="rect">
            <a:avLst/>
          </a:prstGeom>
          <a:solidFill>
            <a:srgbClr val="9095A1"/>
          </a:solidFill>
          <a:ln/>
        </p:spPr>
      </p:sp>
      <p:sp>
        <p:nvSpPr>
          <p:cNvPr id="25" name="Text 23"/>
          <p:cNvSpPr/>
          <p:nvPr/>
        </p:nvSpPr>
        <p:spPr>
          <a:xfrm>
            <a:off x="822960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05</a:t>
            </a:r>
            <a:endParaRPr lang="en-US" sz="1100" dirty="0"/>
          </a:p>
        </p:txBody>
      </p:sp>
      <p:sp>
        <p:nvSpPr>
          <p:cNvPr id="26" name="Text 24"/>
          <p:cNvSpPr/>
          <p:nvPr/>
        </p:nvSpPr>
        <p:spPr>
          <a:xfrm>
            <a:off x="836676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Auth logic + welcome AI</a:t>
            </a:r>
            <a:endParaRPr lang="en-US" sz="1300" dirty="0"/>
          </a:p>
        </p:txBody>
      </p:sp>
      <p:sp>
        <p:nvSpPr>
          <p:cNvPr id="27" name="Shape 25"/>
          <p:cNvSpPr/>
          <p:nvPr/>
        </p:nvSpPr>
        <p:spPr>
          <a:xfrm>
            <a:off x="10149840" y="1737360"/>
            <a:ext cx="1783080" cy="1828800"/>
          </a:xfrm>
          <a:prstGeom prst="roundRect">
            <a:avLst>
              <a:gd name="adj" fmla="val 4103"/>
            </a:avLst>
          </a:prstGeom>
          <a:solidFill>
            <a:srgbClr val="141414"/>
          </a:solidFill>
          <a:ln w="12700">
            <a:solidFill>
              <a:srgbClr val="30333A"/>
            </a:solidFill>
            <a:prstDash val="solid"/>
          </a:ln>
        </p:spPr>
      </p:sp>
      <p:sp>
        <p:nvSpPr>
          <p:cNvPr id="28" name="Shape 26"/>
          <p:cNvSpPr/>
          <p:nvPr/>
        </p:nvSpPr>
        <p:spPr>
          <a:xfrm>
            <a:off x="10149840" y="1737360"/>
            <a:ext cx="1783080" cy="54864"/>
          </a:xfrm>
          <a:prstGeom prst="rect">
            <a:avLst/>
          </a:prstGeom>
          <a:solidFill>
            <a:srgbClr val="9095A1"/>
          </a:solidFill>
          <a:ln/>
        </p:spPr>
      </p:sp>
      <p:sp>
        <p:nvSpPr>
          <p:cNvPr id="29" name="Text 27"/>
          <p:cNvSpPr/>
          <p:nvPr/>
        </p:nvSpPr>
        <p:spPr>
          <a:xfrm>
            <a:off x="10149840" y="196596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06</a:t>
            </a:r>
            <a:endParaRPr lang="en-US" sz="1100" dirty="0"/>
          </a:p>
        </p:txBody>
      </p:sp>
      <p:sp>
        <p:nvSpPr>
          <p:cNvPr id="30" name="Text 28"/>
          <p:cNvSpPr/>
          <p:nvPr/>
        </p:nvSpPr>
        <p:spPr>
          <a:xfrm>
            <a:off x="10287000" y="233172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Daily news AI cron</a:t>
            </a:r>
            <a:endParaRPr lang="en-US" sz="1300" dirty="0"/>
          </a:p>
        </p:txBody>
      </p:sp>
      <p:sp>
        <p:nvSpPr>
          <p:cNvPr id="31" name="Shape 29"/>
          <p:cNvSpPr/>
          <p:nvPr/>
        </p:nvSpPr>
        <p:spPr>
          <a:xfrm>
            <a:off x="548640" y="3931920"/>
            <a:ext cx="1783080" cy="1828800"/>
          </a:xfrm>
          <a:prstGeom prst="roundRect">
            <a:avLst>
              <a:gd name="adj" fmla="val 4103"/>
            </a:avLst>
          </a:prstGeom>
          <a:solidFill>
            <a:srgbClr val="141414"/>
          </a:solidFill>
          <a:ln w="12700">
            <a:solidFill>
              <a:srgbClr val="30333A"/>
            </a:solidFill>
            <a:prstDash val="solid"/>
          </a:ln>
        </p:spPr>
      </p:sp>
      <p:sp>
        <p:nvSpPr>
          <p:cNvPr id="32" name="Shape 30"/>
          <p:cNvSpPr/>
          <p:nvPr/>
        </p:nvSpPr>
        <p:spPr>
          <a:xfrm>
            <a:off x="548640" y="3931920"/>
            <a:ext cx="1783080" cy="54864"/>
          </a:xfrm>
          <a:prstGeom prst="rect">
            <a:avLst/>
          </a:prstGeom>
          <a:solidFill>
            <a:srgbClr val="9095A1"/>
          </a:solidFill>
          <a:ln/>
        </p:spPr>
      </p:sp>
      <p:sp>
        <p:nvSpPr>
          <p:cNvPr id="33" name="Text 31"/>
          <p:cNvSpPr/>
          <p:nvPr/>
        </p:nvSpPr>
        <p:spPr>
          <a:xfrm>
            <a:off x="548640" y="4160520"/>
            <a:ext cx="1783080" cy="320040"/>
          </a:xfrm>
          <a:prstGeom prst="rect">
            <a:avLst/>
          </a:prstGeom>
          <a:noFill/>
          <a:ln/>
        </p:spPr>
        <p:txBody>
          <a:bodyPr wrap="square" rtlCol="0" anchor="ctr"/>
          <a:lstStyle/>
          <a:p>
            <a:pPr algn="ctr" indent="0" marL="0">
              <a:buNone/>
            </a:pPr>
            <a:r>
              <a:rPr lang="en-US" sz="1100" b="1" dirty="0">
                <a:solidFill>
                  <a:srgbClr val="9095A1"/>
                </a:solidFill>
                <a:latin typeface="Calibri" pitchFamily="34" charset="0"/>
                <a:ea typeface="Calibri" pitchFamily="34" charset="-122"/>
                <a:cs typeface="Calibri" pitchFamily="34" charset="-120"/>
              </a:rPr>
              <a:t>Sprint 07</a:t>
            </a:r>
            <a:endParaRPr lang="en-US" sz="1100" dirty="0"/>
          </a:p>
        </p:txBody>
      </p:sp>
      <p:sp>
        <p:nvSpPr>
          <p:cNvPr id="34" name="Text 32"/>
          <p:cNvSpPr/>
          <p:nvPr/>
        </p:nvSpPr>
        <p:spPr>
          <a:xfrm>
            <a:off x="68580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Stock search</a:t>
            </a:r>
            <a:endParaRPr lang="en-US" sz="1300" dirty="0"/>
          </a:p>
        </p:txBody>
      </p:sp>
      <p:sp>
        <p:nvSpPr>
          <p:cNvPr id="35" name="Shape 33"/>
          <p:cNvSpPr/>
          <p:nvPr/>
        </p:nvSpPr>
        <p:spPr>
          <a:xfrm>
            <a:off x="2468880" y="3931920"/>
            <a:ext cx="1783080" cy="1828800"/>
          </a:xfrm>
          <a:prstGeom prst="roundRect">
            <a:avLst>
              <a:gd name="adj" fmla="val 4103"/>
            </a:avLst>
          </a:prstGeom>
          <a:solidFill>
            <a:srgbClr val="141414"/>
          </a:solidFill>
          <a:ln w="25400">
            <a:solidFill>
              <a:srgbClr val="FDD458"/>
            </a:solidFill>
            <a:prstDash val="solid"/>
          </a:ln>
        </p:spPr>
      </p:sp>
      <p:sp>
        <p:nvSpPr>
          <p:cNvPr id="36" name="Shape 34"/>
          <p:cNvSpPr/>
          <p:nvPr/>
        </p:nvSpPr>
        <p:spPr>
          <a:xfrm>
            <a:off x="2468880" y="3931920"/>
            <a:ext cx="1783080" cy="54864"/>
          </a:xfrm>
          <a:prstGeom prst="rect">
            <a:avLst/>
          </a:prstGeom>
          <a:solidFill>
            <a:srgbClr val="FDD458"/>
          </a:solidFill>
          <a:ln/>
        </p:spPr>
      </p:sp>
      <p:sp>
        <p:nvSpPr>
          <p:cNvPr id="37" name="Text 35"/>
          <p:cNvSpPr/>
          <p:nvPr/>
        </p:nvSpPr>
        <p:spPr>
          <a:xfrm>
            <a:off x="2468880" y="4160520"/>
            <a:ext cx="1783080" cy="320040"/>
          </a:xfrm>
          <a:prstGeom prst="rect">
            <a:avLst/>
          </a:prstGeom>
          <a:noFill/>
          <a:ln/>
        </p:spPr>
        <p:txBody>
          <a:bodyPr wrap="square" rtlCol="0" anchor="ctr"/>
          <a:lstStyle/>
          <a:p>
            <a:pPr algn="ctr" indent="0" marL="0">
              <a:buNone/>
            </a:pPr>
            <a:r>
              <a:rPr lang="en-US" sz="1100" b="1" dirty="0">
                <a:solidFill>
                  <a:srgbClr val="FDD458"/>
                </a:solidFill>
                <a:latin typeface="Calibri" pitchFamily="34" charset="0"/>
                <a:ea typeface="Calibri" pitchFamily="34" charset="-122"/>
                <a:cs typeface="Calibri" pitchFamily="34" charset="-120"/>
              </a:rPr>
              <a:t>Sprint 08</a:t>
            </a:r>
            <a:endParaRPr lang="en-US" sz="1100" dirty="0"/>
          </a:p>
        </p:txBody>
      </p:sp>
      <p:sp>
        <p:nvSpPr>
          <p:cNvPr id="38" name="Text 36"/>
          <p:cNvSpPr/>
          <p:nvPr/>
        </p:nvSpPr>
        <p:spPr>
          <a:xfrm>
            <a:off x="260604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Paper trading &amp; analytics</a:t>
            </a:r>
            <a:endParaRPr lang="en-US" sz="1300" dirty="0"/>
          </a:p>
        </p:txBody>
      </p:sp>
      <p:sp>
        <p:nvSpPr>
          <p:cNvPr id="39" name="Shape 37"/>
          <p:cNvSpPr/>
          <p:nvPr/>
        </p:nvSpPr>
        <p:spPr>
          <a:xfrm>
            <a:off x="2971800" y="5394960"/>
            <a:ext cx="777240" cy="228600"/>
          </a:xfrm>
          <a:prstGeom prst="roundRect">
            <a:avLst>
              <a:gd name="adj" fmla="val 40000"/>
            </a:avLst>
          </a:prstGeom>
          <a:solidFill>
            <a:srgbClr val="FDD458"/>
          </a:solidFill>
          <a:ln/>
        </p:spPr>
      </p:sp>
      <p:sp>
        <p:nvSpPr>
          <p:cNvPr id="40" name="Text 38"/>
          <p:cNvSpPr/>
          <p:nvPr/>
        </p:nvSpPr>
        <p:spPr>
          <a:xfrm>
            <a:off x="2971800" y="5394960"/>
            <a:ext cx="777240" cy="22860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41" name="Shape 39"/>
          <p:cNvSpPr/>
          <p:nvPr/>
        </p:nvSpPr>
        <p:spPr>
          <a:xfrm>
            <a:off x="4389120" y="3931920"/>
            <a:ext cx="1783080" cy="1828800"/>
          </a:xfrm>
          <a:prstGeom prst="roundRect">
            <a:avLst>
              <a:gd name="adj" fmla="val 4103"/>
            </a:avLst>
          </a:prstGeom>
          <a:solidFill>
            <a:srgbClr val="141414"/>
          </a:solidFill>
          <a:ln w="25400">
            <a:solidFill>
              <a:srgbClr val="FDD458"/>
            </a:solidFill>
            <a:prstDash val="solid"/>
          </a:ln>
        </p:spPr>
      </p:sp>
      <p:sp>
        <p:nvSpPr>
          <p:cNvPr id="42" name="Shape 40"/>
          <p:cNvSpPr/>
          <p:nvPr/>
        </p:nvSpPr>
        <p:spPr>
          <a:xfrm>
            <a:off x="4389120" y="3931920"/>
            <a:ext cx="1783080" cy="54864"/>
          </a:xfrm>
          <a:prstGeom prst="rect">
            <a:avLst/>
          </a:prstGeom>
          <a:solidFill>
            <a:srgbClr val="FDD458"/>
          </a:solidFill>
          <a:ln/>
        </p:spPr>
      </p:sp>
      <p:sp>
        <p:nvSpPr>
          <p:cNvPr id="43" name="Text 41"/>
          <p:cNvSpPr/>
          <p:nvPr/>
        </p:nvSpPr>
        <p:spPr>
          <a:xfrm>
            <a:off x="4389120" y="4160520"/>
            <a:ext cx="1783080" cy="320040"/>
          </a:xfrm>
          <a:prstGeom prst="rect">
            <a:avLst/>
          </a:prstGeom>
          <a:noFill/>
          <a:ln/>
        </p:spPr>
        <p:txBody>
          <a:bodyPr wrap="square" rtlCol="0" anchor="ctr"/>
          <a:lstStyle/>
          <a:p>
            <a:pPr algn="ctr" indent="0" marL="0">
              <a:buNone/>
            </a:pPr>
            <a:r>
              <a:rPr lang="en-US" sz="1100" b="1" dirty="0">
                <a:solidFill>
                  <a:srgbClr val="FDD458"/>
                </a:solidFill>
                <a:latin typeface="Calibri" pitchFamily="34" charset="0"/>
                <a:ea typeface="Calibri" pitchFamily="34" charset="-122"/>
                <a:cs typeface="Calibri" pitchFamily="34" charset="-120"/>
              </a:rPr>
              <a:t>Sprint 09</a:t>
            </a:r>
            <a:endParaRPr lang="en-US" sz="1100" dirty="0"/>
          </a:p>
        </p:txBody>
      </p:sp>
      <p:sp>
        <p:nvSpPr>
          <p:cNvPr id="44" name="Text 42"/>
          <p:cNvSpPr/>
          <p:nvPr/>
        </p:nvSpPr>
        <p:spPr>
          <a:xfrm>
            <a:off x="452628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investment assistant</a:t>
            </a:r>
            <a:endParaRPr lang="en-US" sz="1300" dirty="0"/>
          </a:p>
        </p:txBody>
      </p:sp>
      <p:sp>
        <p:nvSpPr>
          <p:cNvPr id="45" name="Shape 43"/>
          <p:cNvSpPr/>
          <p:nvPr/>
        </p:nvSpPr>
        <p:spPr>
          <a:xfrm>
            <a:off x="4892040" y="5394960"/>
            <a:ext cx="777240" cy="228600"/>
          </a:xfrm>
          <a:prstGeom prst="roundRect">
            <a:avLst>
              <a:gd name="adj" fmla="val 40000"/>
            </a:avLst>
          </a:prstGeom>
          <a:solidFill>
            <a:srgbClr val="FDD458"/>
          </a:solidFill>
          <a:ln/>
        </p:spPr>
      </p:sp>
      <p:sp>
        <p:nvSpPr>
          <p:cNvPr id="46" name="Text 44"/>
          <p:cNvSpPr/>
          <p:nvPr/>
        </p:nvSpPr>
        <p:spPr>
          <a:xfrm>
            <a:off x="4892040" y="5394960"/>
            <a:ext cx="777240" cy="22860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47" name="Shape 45"/>
          <p:cNvSpPr/>
          <p:nvPr/>
        </p:nvSpPr>
        <p:spPr>
          <a:xfrm>
            <a:off x="6309360" y="3931920"/>
            <a:ext cx="1783080" cy="1828800"/>
          </a:xfrm>
          <a:prstGeom prst="roundRect">
            <a:avLst>
              <a:gd name="adj" fmla="val 4103"/>
            </a:avLst>
          </a:prstGeom>
          <a:solidFill>
            <a:srgbClr val="141414"/>
          </a:solidFill>
          <a:ln w="25400">
            <a:solidFill>
              <a:srgbClr val="FDD458"/>
            </a:solidFill>
            <a:prstDash val="solid"/>
          </a:ln>
        </p:spPr>
      </p:sp>
      <p:sp>
        <p:nvSpPr>
          <p:cNvPr id="48" name="Shape 46"/>
          <p:cNvSpPr/>
          <p:nvPr/>
        </p:nvSpPr>
        <p:spPr>
          <a:xfrm>
            <a:off x="6309360" y="3931920"/>
            <a:ext cx="1783080" cy="54864"/>
          </a:xfrm>
          <a:prstGeom prst="rect">
            <a:avLst/>
          </a:prstGeom>
          <a:solidFill>
            <a:srgbClr val="FDD458"/>
          </a:solidFill>
          <a:ln/>
        </p:spPr>
      </p:sp>
      <p:sp>
        <p:nvSpPr>
          <p:cNvPr id="49" name="Text 47"/>
          <p:cNvSpPr/>
          <p:nvPr/>
        </p:nvSpPr>
        <p:spPr>
          <a:xfrm>
            <a:off x="6309360" y="4160520"/>
            <a:ext cx="1783080" cy="320040"/>
          </a:xfrm>
          <a:prstGeom prst="rect">
            <a:avLst/>
          </a:prstGeom>
          <a:noFill/>
          <a:ln/>
        </p:spPr>
        <p:txBody>
          <a:bodyPr wrap="square" rtlCol="0" anchor="ctr"/>
          <a:lstStyle/>
          <a:p>
            <a:pPr algn="ctr" indent="0" marL="0">
              <a:buNone/>
            </a:pPr>
            <a:r>
              <a:rPr lang="en-US" sz="1100" b="1" dirty="0">
                <a:solidFill>
                  <a:srgbClr val="FDD458"/>
                </a:solidFill>
                <a:latin typeface="Calibri" pitchFamily="34" charset="0"/>
                <a:ea typeface="Calibri" pitchFamily="34" charset="-122"/>
                <a:cs typeface="Calibri" pitchFamily="34" charset="-120"/>
              </a:rPr>
              <a:t>Sprint 10</a:t>
            </a:r>
            <a:endParaRPr lang="en-US" sz="1100" dirty="0"/>
          </a:p>
        </p:txBody>
      </p:sp>
      <p:sp>
        <p:nvSpPr>
          <p:cNvPr id="50" name="Text 48"/>
          <p:cNvSpPr/>
          <p:nvPr/>
        </p:nvSpPr>
        <p:spPr>
          <a:xfrm>
            <a:off x="644652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Documentation</a:t>
            </a:r>
            <a:endParaRPr lang="en-US" sz="1300" dirty="0"/>
          </a:p>
        </p:txBody>
      </p:sp>
      <p:sp>
        <p:nvSpPr>
          <p:cNvPr id="51" name="Shape 49"/>
          <p:cNvSpPr/>
          <p:nvPr/>
        </p:nvSpPr>
        <p:spPr>
          <a:xfrm>
            <a:off x="6812280" y="5394960"/>
            <a:ext cx="777240" cy="228600"/>
          </a:xfrm>
          <a:prstGeom prst="roundRect">
            <a:avLst>
              <a:gd name="adj" fmla="val 40000"/>
            </a:avLst>
          </a:prstGeom>
          <a:solidFill>
            <a:srgbClr val="FDD458"/>
          </a:solidFill>
          <a:ln/>
        </p:spPr>
      </p:sp>
      <p:sp>
        <p:nvSpPr>
          <p:cNvPr id="52" name="Text 50"/>
          <p:cNvSpPr/>
          <p:nvPr/>
        </p:nvSpPr>
        <p:spPr>
          <a:xfrm>
            <a:off x="6812280" y="5394960"/>
            <a:ext cx="777240" cy="22860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53" name="Shape 51"/>
          <p:cNvSpPr/>
          <p:nvPr/>
        </p:nvSpPr>
        <p:spPr>
          <a:xfrm>
            <a:off x="8229600" y="3931920"/>
            <a:ext cx="1783080" cy="1828800"/>
          </a:xfrm>
          <a:prstGeom prst="roundRect">
            <a:avLst>
              <a:gd name="adj" fmla="val 4103"/>
            </a:avLst>
          </a:prstGeom>
          <a:solidFill>
            <a:srgbClr val="141414"/>
          </a:solidFill>
          <a:ln w="25400">
            <a:solidFill>
              <a:srgbClr val="FDD458"/>
            </a:solidFill>
            <a:prstDash val="solid"/>
          </a:ln>
        </p:spPr>
      </p:sp>
      <p:sp>
        <p:nvSpPr>
          <p:cNvPr id="54" name="Shape 52"/>
          <p:cNvSpPr/>
          <p:nvPr/>
        </p:nvSpPr>
        <p:spPr>
          <a:xfrm>
            <a:off x="8229600" y="3931920"/>
            <a:ext cx="1783080" cy="54864"/>
          </a:xfrm>
          <a:prstGeom prst="rect">
            <a:avLst/>
          </a:prstGeom>
          <a:solidFill>
            <a:srgbClr val="FDD458"/>
          </a:solidFill>
          <a:ln/>
        </p:spPr>
      </p:sp>
      <p:sp>
        <p:nvSpPr>
          <p:cNvPr id="55" name="Text 53"/>
          <p:cNvSpPr/>
          <p:nvPr/>
        </p:nvSpPr>
        <p:spPr>
          <a:xfrm>
            <a:off x="8229600" y="4160520"/>
            <a:ext cx="1783080" cy="320040"/>
          </a:xfrm>
          <a:prstGeom prst="rect">
            <a:avLst/>
          </a:prstGeom>
          <a:noFill/>
          <a:ln/>
        </p:spPr>
        <p:txBody>
          <a:bodyPr wrap="square" rtlCol="0" anchor="ctr"/>
          <a:lstStyle/>
          <a:p>
            <a:pPr algn="ctr" indent="0" marL="0">
              <a:buNone/>
            </a:pPr>
            <a:r>
              <a:rPr lang="en-US" sz="1100" b="1" dirty="0">
                <a:solidFill>
                  <a:srgbClr val="FDD458"/>
                </a:solidFill>
                <a:latin typeface="Calibri" pitchFamily="34" charset="0"/>
                <a:ea typeface="Calibri" pitchFamily="34" charset="-122"/>
                <a:cs typeface="Calibri" pitchFamily="34" charset="-120"/>
              </a:rPr>
              <a:t>Sprint 11</a:t>
            </a:r>
            <a:endParaRPr lang="en-US" sz="1100" dirty="0"/>
          </a:p>
        </p:txBody>
      </p:sp>
      <p:sp>
        <p:nvSpPr>
          <p:cNvPr id="56" name="Text 54"/>
          <p:cNvSpPr/>
          <p:nvPr/>
        </p:nvSpPr>
        <p:spPr>
          <a:xfrm>
            <a:off x="836676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Marketing landing page</a:t>
            </a:r>
            <a:endParaRPr lang="en-US" sz="1300" dirty="0"/>
          </a:p>
        </p:txBody>
      </p:sp>
      <p:sp>
        <p:nvSpPr>
          <p:cNvPr id="57" name="Shape 55"/>
          <p:cNvSpPr/>
          <p:nvPr/>
        </p:nvSpPr>
        <p:spPr>
          <a:xfrm>
            <a:off x="8732520" y="5394960"/>
            <a:ext cx="777240" cy="228600"/>
          </a:xfrm>
          <a:prstGeom prst="roundRect">
            <a:avLst>
              <a:gd name="adj" fmla="val 40000"/>
            </a:avLst>
          </a:prstGeom>
          <a:solidFill>
            <a:srgbClr val="FDD458"/>
          </a:solidFill>
          <a:ln/>
        </p:spPr>
      </p:sp>
      <p:sp>
        <p:nvSpPr>
          <p:cNvPr id="58" name="Text 56"/>
          <p:cNvSpPr/>
          <p:nvPr/>
        </p:nvSpPr>
        <p:spPr>
          <a:xfrm>
            <a:off x="8732520" y="5394960"/>
            <a:ext cx="777240" cy="22860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59" name="Shape 57"/>
          <p:cNvSpPr/>
          <p:nvPr/>
        </p:nvSpPr>
        <p:spPr>
          <a:xfrm>
            <a:off x="10149840" y="3931920"/>
            <a:ext cx="1783080" cy="1828800"/>
          </a:xfrm>
          <a:prstGeom prst="roundRect">
            <a:avLst>
              <a:gd name="adj" fmla="val 4103"/>
            </a:avLst>
          </a:prstGeom>
          <a:solidFill>
            <a:srgbClr val="141414"/>
          </a:solidFill>
          <a:ln w="25400">
            <a:solidFill>
              <a:srgbClr val="FDD458"/>
            </a:solidFill>
            <a:prstDash val="solid"/>
          </a:ln>
        </p:spPr>
      </p:sp>
      <p:sp>
        <p:nvSpPr>
          <p:cNvPr id="60" name="Shape 58"/>
          <p:cNvSpPr/>
          <p:nvPr/>
        </p:nvSpPr>
        <p:spPr>
          <a:xfrm>
            <a:off x="10149840" y="3931920"/>
            <a:ext cx="1783080" cy="54864"/>
          </a:xfrm>
          <a:prstGeom prst="rect">
            <a:avLst/>
          </a:prstGeom>
          <a:solidFill>
            <a:srgbClr val="FDD458"/>
          </a:solidFill>
          <a:ln/>
        </p:spPr>
      </p:sp>
      <p:sp>
        <p:nvSpPr>
          <p:cNvPr id="61" name="Text 59"/>
          <p:cNvSpPr/>
          <p:nvPr/>
        </p:nvSpPr>
        <p:spPr>
          <a:xfrm>
            <a:off x="10149840" y="4160520"/>
            <a:ext cx="1783080" cy="320040"/>
          </a:xfrm>
          <a:prstGeom prst="rect">
            <a:avLst/>
          </a:prstGeom>
          <a:noFill/>
          <a:ln/>
        </p:spPr>
        <p:txBody>
          <a:bodyPr wrap="square" rtlCol="0" anchor="ctr"/>
          <a:lstStyle/>
          <a:p>
            <a:pPr algn="ctr" indent="0" marL="0">
              <a:buNone/>
            </a:pPr>
            <a:r>
              <a:rPr lang="en-US" sz="1100" b="1" dirty="0">
                <a:solidFill>
                  <a:srgbClr val="FDD458"/>
                </a:solidFill>
                <a:latin typeface="Calibri" pitchFamily="34" charset="0"/>
                <a:ea typeface="Calibri" pitchFamily="34" charset="-122"/>
                <a:cs typeface="Calibri" pitchFamily="34" charset="-120"/>
              </a:rPr>
              <a:t>Sprint 12</a:t>
            </a:r>
            <a:endParaRPr lang="en-US" sz="1100" dirty="0"/>
          </a:p>
        </p:txBody>
      </p:sp>
      <p:sp>
        <p:nvSpPr>
          <p:cNvPr id="62" name="Text 60"/>
          <p:cNvSpPr/>
          <p:nvPr/>
        </p:nvSpPr>
        <p:spPr>
          <a:xfrm>
            <a:off x="10287000" y="4526280"/>
            <a:ext cx="15087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Defense prep</a:t>
            </a:r>
            <a:endParaRPr lang="en-US" sz="1300" dirty="0"/>
          </a:p>
        </p:txBody>
      </p:sp>
      <p:sp>
        <p:nvSpPr>
          <p:cNvPr id="63" name="Shape 61"/>
          <p:cNvSpPr/>
          <p:nvPr/>
        </p:nvSpPr>
        <p:spPr>
          <a:xfrm>
            <a:off x="10652760" y="5394960"/>
            <a:ext cx="777240" cy="228600"/>
          </a:xfrm>
          <a:prstGeom prst="roundRect">
            <a:avLst>
              <a:gd name="adj" fmla="val 40000"/>
            </a:avLst>
          </a:prstGeom>
          <a:solidFill>
            <a:srgbClr val="FDD458"/>
          </a:solidFill>
          <a:ln/>
        </p:spPr>
      </p:sp>
      <p:sp>
        <p:nvSpPr>
          <p:cNvPr id="64" name="Text 62"/>
          <p:cNvSpPr/>
          <p:nvPr/>
        </p:nvSpPr>
        <p:spPr>
          <a:xfrm>
            <a:off x="10652760" y="5394960"/>
            <a:ext cx="777240" cy="22860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65" name="Text 63"/>
          <p:cNvSpPr/>
          <p:nvPr/>
        </p:nvSpPr>
        <p:spPr>
          <a:xfrm>
            <a:off x="548640" y="6263640"/>
            <a:ext cx="11091672" cy="274320"/>
          </a:xfrm>
          <a:prstGeom prst="rect">
            <a:avLst/>
          </a:prstGeom>
          <a:noFill/>
          <a:ln/>
        </p:spPr>
        <p:txBody>
          <a:bodyPr wrap="square" rtlCol="0" anchor="ctr"/>
          <a:lstStyle/>
          <a:p>
            <a:pPr algn="ctr" indent="0" marL="0">
              <a:buNone/>
            </a:pPr>
            <a:r>
              <a:rPr lang="en-US" sz="1100" i="1" dirty="0">
                <a:solidFill>
                  <a:srgbClr val="9095A1"/>
                </a:solidFill>
                <a:latin typeface="Calibri" pitchFamily="34" charset="0"/>
                <a:ea typeface="Calibri" pitchFamily="34" charset="-122"/>
                <a:cs typeface="Calibri" pitchFamily="34" charset="-120"/>
              </a:rPr>
              <a:t>Highlighted in yellow: net-new on top of the JS Mastery tutorial baseline.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01 — Header &amp; base layout</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Bootstrap a styleable app shell.</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Set up the Next.js 16 project, the global dark theme, the sticky header with logo + nav, and the responsive container. Establishes the visual foundation everything else sits on.</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Next.js 16 App Router scaffold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Tailwind CSS 4 + custom palette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Geist font integration</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components/Header.tsx + NavItems.tsx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Global dark theme in globals.css</a:t>
            </a:r>
            <a:endParaRPr lang="en-US" sz="1100" dirty="0"/>
          </a:p>
        </p:txBody>
      </p:sp>
      <p:sp>
        <p:nvSpPr>
          <p:cNvPr id="20" name="Shape 18"/>
          <p:cNvSpPr/>
          <p:nvPr/>
        </p:nvSpPr>
        <p:spPr>
          <a:xfrm>
            <a:off x="8595360" y="2514600"/>
            <a:ext cx="1280160"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280160"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Next.js 16</a:t>
            </a:r>
            <a:endParaRPr lang="en-US" sz="1000" dirty="0"/>
          </a:p>
        </p:txBody>
      </p:sp>
      <p:sp>
        <p:nvSpPr>
          <p:cNvPr id="22" name="Shape 20"/>
          <p:cNvSpPr/>
          <p:nvPr/>
        </p:nvSpPr>
        <p:spPr>
          <a:xfrm>
            <a:off x="9966960" y="2514600"/>
            <a:ext cx="1078992"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9966960" y="2514600"/>
            <a:ext cx="1078992"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React 19</a:t>
            </a:r>
            <a:endParaRPr lang="en-US" sz="1000" dirty="0"/>
          </a:p>
        </p:txBody>
      </p:sp>
      <p:sp>
        <p:nvSpPr>
          <p:cNvPr id="24" name="Shape 22"/>
          <p:cNvSpPr/>
          <p:nvPr/>
        </p:nvSpPr>
        <p:spPr>
          <a:xfrm>
            <a:off x="11137392" y="2514600"/>
            <a:ext cx="1280160"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11137392" y="2514600"/>
            <a:ext cx="1280160"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Tailwind 4</a:t>
            </a:r>
            <a:endParaRPr lang="en-US" sz="1000" dirty="0"/>
          </a:p>
        </p:txBody>
      </p:sp>
      <p:sp>
        <p:nvSpPr>
          <p:cNvPr id="26" name="Shape 24"/>
          <p:cNvSpPr/>
          <p:nvPr/>
        </p:nvSpPr>
        <p:spPr>
          <a:xfrm>
            <a:off x="8595360" y="2898648"/>
            <a:ext cx="1280160"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8595360" y="2898648"/>
            <a:ext cx="1280160"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TypeScript</a:t>
            </a:r>
            <a:endParaRPr lang="en-US" sz="1000" dirty="0"/>
          </a:p>
        </p:txBody>
      </p:sp>
      <p:sp>
        <p:nvSpPr>
          <p:cNvPr id="28" name="Shape 26"/>
          <p:cNvSpPr/>
          <p:nvPr/>
        </p:nvSpPr>
        <p:spPr>
          <a:xfrm>
            <a:off x="9966960" y="2898648"/>
            <a:ext cx="1179576" cy="292608"/>
          </a:xfrm>
          <a:prstGeom prst="roundRect">
            <a:avLst>
              <a:gd name="adj" fmla="val 18750"/>
            </a:avLst>
          </a:prstGeom>
          <a:solidFill>
            <a:srgbClr val="141414"/>
          </a:solidFill>
          <a:ln w="12700">
            <a:solidFill>
              <a:srgbClr val="FF8243"/>
            </a:solidFill>
            <a:prstDash val="solid"/>
          </a:ln>
        </p:spPr>
      </p:sp>
      <p:sp>
        <p:nvSpPr>
          <p:cNvPr id="29" name="Text 27"/>
          <p:cNvSpPr/>
          <p:nvPr/>
        </p:nvSpPr>
        <p:spPr>
          <a:xfrm>
            <a:off x="9966960" y="2898648"/>
            <a:ext cx="1179576" cy="292608"/>
          </a:xfrm>
          <a:prstGeom prst="rect">
            <a:avLst/>
          </a:prstGeom>
          <a:noFill/>
          <a:ln/>
        </p:spPr>
        <p:txBody>
          <a:bodyPr wrap="square" rtlCol="0" anchor="ctr"/>
          <a:lstStyle/>
          <a:p>
            <a:pPr algn="ctr" indent="0" marL="0">
              <a:buNone/>
            </a:pPr>
            <a:r>
              <a:rPr lang="en-US" sz="1000" dirty="0">
                <a:solidFill>
                  <a:srgbClr val="FF8243"/>
                </a:solidFill>
                <a:latin typeface="Calibri" pitchFamily="34" charset="0"/>
                <a:ea typeface="Calibri" pitchFamily="34" charset="-122"/>
                <a:cs typeface="Calibri" pitchFamily="34" charset="-120"/>
              </a:rPr>
              <a:t>shadcn/ui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02 — Dashboard + TradingView widgets</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Show real markets without building chart code.</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Embed TradingView's free widgets to display market overview, stock heatmap, top stories, and market quotes on the dashboard. Saves us months of charting work and gives instant credibility.</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components/TradingViewWidget.tsx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hooks/useTradingViewWidget.ts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Market Overview, Heatmap, Top Stories, Quotes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4 widget configs in lib/constants.ts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Responsive grid layout for the dashboard</a:t>
            </a:r>
            <a:endParaRPr lang="en-US" sz="1100" dirty="0"/>
          </a:p>
        </p:txBody>
      </p:sp>
      <p:sp>
        <p:nvSpPr>
          <p:cNvPr id="20" name="Shape 18"/>
          <p:cNvSpPr/>
          <p:nvPr/>
        </p:nvSpPr>
        <p:spPr>
          <a:xfrm>
            <a:off x="8595360" y="2514600"/>
            <a:ext cx="1380744"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380744"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TradingView</a:t>
            </a:r>
            <a:endParaRPr lang="en-US" sz="1000" dirty="0"/>
          </a:p>
        </p:txBody>
      </p:sp>
      <p:sp>
        <p:nvSpPr>
          <p:cNvPr id="22" name="Shape 20"/>
          <p:cNvSpPr/>
          <p:nvPr/>
        </p:nvSpPr>
        <p:spPr>
          <a:xfrm>
            <a:off x="10067544" y="2514600"/>
            <a:ext cx="1380744"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067544" y="2514600"/>
            <a:ext cx="1380744"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React Hooks</a:t>
            </a:r>
            <a:endParaRPr lang="en-US" sz="1000" dirty="0"/>
          </a:p>
        </p:txBody>
      </p:sp>
      <p:sp>
        <p:nvSpPr>
          <p:cNvPr id="24" name="Shape 22"/>
          <p:cNvSpPr/>
          <p:nvPr/>
        </p:nvSpPr>
        <p:spPr>
          <a:xfrm>
            <a:off x="8595360" y="2898648"/>
            <a:ext cx="1682496"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1682496"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iframe sandbox</a:t>
            </a:r>
            <a:endParaRPr lang="en-US" sz="1000" dirty="0"/>
          </a:p>
        </p:txBody>
      </p:sp>
      <p:sp>
        <p:nvSpPr>
          <p:cNvPr id="26" name="Shape 24"/>
          <p:cNvSpPr/>
          <p:nvPr/>
        </p:nvSpPr>
        <p:spPr>
          <a:xfrm>
            <a:off x="10369296" y="2898648"/>
            <a:ext cx="1078992"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10369296" y="2898648"/>
            <a:ext cx="1078992"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Tailwind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03 — Authentication UI</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Sign in / Sign up screens with personalization.</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Build the sign-up form that captures investment profile (country, risk tolerance, goals, preferred industry). This profile data later powers AI personalization in the welcome email and weekly recap.</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app/(auth)/sign-in/page.tsx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app/(auth)/sign-up/page.tsx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components/forms/InputField, SelectField, CountrySelectField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react-hook-form integration</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Auth layout with dashboard preview</a:t>
            </a:r>
            <a:endParaRPr lang="en-US" sz="1100" dirty="0"/>
          </a:p>
        </p:txBody>
      </p:sp>
      <p:sp>
        <p:nvSpPr>
          <p:cNvPr id="20" name="Shape 18"/>
          <p:cNvSpPr/>
          <p:nvPr/>
        </p:nvSpPr>
        <p:spPr>
          <a:xfrm>
            <a:off x="8595360" y="2514600"/>
            <a:ext cx="1783080"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783080"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react-hook-form</a:t>
            </a:r>
            <a:endParaRPr lang="en-US" sz="1000" dirty="0"/>
          </a:p>
        </p:txBody>
      </p:sp>
      <p:sp>
        <p:nvSpPr>
          <p:cNvPr id="22" name="Shape 20"/>
          <p:cNvSpPr/>
          <p:nvPr/>
        </p:nvSpPr>
        <p:spPr>
          <a:xfrm>
            <a:off x="10469880" y="2514600"/>
            <a:ext cx="1179576"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469880" y="2514600"/>
            <a:ext cx="1179576"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shadcn/ui</a:t>
            </a:r>
            <a:endParaRPr lang="en-US" sz="1000" dirty="0"/>
          </a:p>
        </p:txBody>
      </p:sp>
      <p:sp>
        <p:nvSpPr>
          <p:cNvPr id="24" name="Shape 22"/>
          <p:cNvSpPr/>
          <p:nvPr/>
        </p:nvSpPr>
        <p:spPr>
          <a:xfrm>
            <a:off x="8595360" y="2898648"/>
            <a:ext cx="2084832"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2084832"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country-flag-icons</a:t>
            </a:r>
            <a:endParaRPr lang="en-US" sz="1000" dirty="0"/>
          </a:p>
        </p:txBody>
      </p:sp>
      <p:sp>
        <p:nvSpPr>
          <p:cNvPr id="26" name="Shape 24"/>
          <p:cNvSpPr/>
          <p:nvPr/>
        </p:nvSpPr>
        <p:spPr>
          <a:xfrm>
            <a:off x="10771632" y="2898648"/>
            <a:ext cx="1078992"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10771632" y="2898648"/>
            <a:ext cx="1078992"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Tailwind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04 — Database setup</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Reliable connection to MongoDB Atlas.</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Configure the MongoDB Atlas connection with caching for Next.js dev hot-reload, IPv4-forced DNS to avoid intermittent IPv6 issues, and the first Mongoose model (Watchlist).</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DATABASE/mongoose.ts (cached connection)</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DATABASE/models/watchlist.model.ts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Connection cache via global var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DNS resolver with IPv4 family: 4</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scripts/test-db.mjs sanity test</a:t>
            </a:r>
            <a:endParaRPr lang="en-US" sz="1100" dirty="0"/>
          </a:p>
        </p:txBody>
      </p:sp>
      <p:sp>
        <p:nvSpPr>
          <p:cNvPr id="20" name="Shape 18"/>
          <p:cNvSpPr/>
          <p:nvPr/>
        </p:nvSpPr>
        <p:spPr>
          <a:xfrm>
            <a:off x="8595360" y="2514600"/>
            <a:ext cx="1581912"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581912"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MongoDB Atlas</a:t>
            </a:r>
            <a:endParaRPr lang="en-US" sz="1000" dirty="0"/>
          </a:p>
        </p:txBody>
      </p:sp>
      <p:sp>
        <p:nvSpPr>
          <p:cNvPr id="22" name="Shape 20"/>
          <p:cNvSpPr/>
          <p:nvPr/>
        </p:nvSpPr>
        <p:spPr>
          <a:xfrm>
            <a:off x="10268712" y="2514600"/>
            <a:ext cx="1280160"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268712" y="2514600"/>
            <a:ext cx="1280160"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Mongoose 9</a:t>
            </a:r>
            <a:endParaRPr lang="en-US" sz="1000" dirty="0"/>
          </a:p>
        </p:txBody>
      </p:sp>
      <p:sp>
        <p:nvSpPr>
          <p:cNvPr id="24" name="Shape 22"/>
          <p:cNvSpPr/>
          <p:nvPr/>
        </p:nvSpPr>
        <p:spPr>
          <a:xfrm>
            <a:off x="8595360" y="2898648"/>
            <a:ext cx="1783080"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1783080"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Node DNS module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05 — Authentication logic + AI welcome email</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Working auth + first AI integration.</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Wire up better-auth with the MongoDB adapter, session-cookie middleware, and the first Inngest function: sending a personalized welcome email generated by Gemini based on the user's investment profile.</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lib/better-auth/auth.ts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Middleware session gate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lib/inngest/{client,functions,prompts}.ts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lib/nodemailer/{index,templates}.ts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sendSignUpEmail Inngest function</a:t>
            </a:r>
            <a:endParaRPr lang="en-US" sz="1100" dirty="0"/>
          </a:p>
        </p:txBody>
      </p:sp>
      <p:sp>
        <p:nvSpPr>
          <p:cNvPr id="20" name="Shape 18"/>
          <p:cNvSpPr/>
          <p:nvPr/>
        </p:nvSpPr>
        <p:spPr>
          <a:xfrm>
            <a:off x="8595360" y="2514600"/>
            <a:ext cx="1380744"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380744"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better-auth</a:t>
            </a:r>
            <a:endParaRPr lang="en-US" sz="1000" dirty="0"/>
          </a:p>
        </p:txBody>
      </p:sp>
      <p:sp>
        <p:nvSpPr>
          <p:cNvPr id="22" name="Shape 20"/>
          <p:cNvSpPr/>
          <p:nvPr/>
        </p:nvSpPr>
        <p:spPr>
          <a:xfrm>
            <a:off x="10067544" y="2514600"/>
            <a:ext cx="978408"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067544" y="2514600"/>
            <a:ext cx="978408"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Inngest</a:t>
            </a:r>
            <a:endParaRPr lang="en-US" sz="1000" dirty="0"/>
          </a:p>
        </p:txBody>
      </p:sp>
      <p:sp>
        <p:nvSpPr>
          <p:cNvPr id="24" name="Shape 22"/>
          <p:cNvSpPr/>
          <p:nvPr/>
        </p:nvSpPr>
        <p:spPr>
          <a:xfrm>
            <a:off x="11137392" y="2514600"/>
            <a:ext cx="1581912"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11137392" y="2514600"/>
            <a:ext cx="1581912"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Google Gemini</a:t>
            </a:r>
            <a:endParaRPr lang="en-US" sz="1000" dirty="0"/>
          </a:p>
        </p:txBody>
      </p:sp>
      <p:sp>
        <p:nvSpPr>
          <p:cNvPr id="26" name="Shape 24"/>
          <p:cNvSpPr/>
          <p:nvPr/>
        </p:nvSpPr>
        <p:spPr>
          <a:xfrm>
            <a:off x="8595360" y="2898648"/>
            <a:ext cx="1280160"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8595360" y="2898648"/>
            <a:ext cx="1280160"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Nodemailer</a:t>
            </a:r>
            <a:endParaRPr lang="en-US" sz="1000" dirty="0"/>
          </a:p>
        </p:txBody>
      </p:sp>
      <p:sp>
        <p:nvSpPr>
          <p:cNvPr id="28" name="Shape 26"/>
          <p:cNvSpPr/>
          <p:nvPr/>
        </p:nvSpPr>
        <p:spPr>
          <a:xfrm>
            <a:off x="9966960" y="2898648"/>
            <a:ext cx="1280160" cy="292608"/>
          </a:xfrm>
          <a:prstGeom prst="roundRect">
            <a:avLst>
              <a:gd name="adj" fmla="val 18750"/>
            </a:avLst>
          </a:prstGeom>
          <a:solidFill>
            <a:srgbClr val="141414"/>
          </a:solidFill>
          <a:ln w="12700">
            <a:solidFill>
              <a:srgbClr val="FF8243"/>
            </a:solidFill>
            <a:prstDash val="solid"/>
          </a:ln>
        </p:spPr>
      </p:sp>
      <p:sp>
        <p:nvSpPr>
          <p:cNvPr id="29" name="Text 27"/>
          <p:cNvSpPr/>
          <p:nvPr/>
        </p:nvSpPr>
        <p:spPr>
          <a:xfrm>
            <a:off x="9966960" y="2898648"/>
            <a:ext cx="1280160" cy="292608"/>
          </a:xfrm>
          <a:prstGeom prst="rect">
            <a:avLst/>
          </a:prstGeom>
          <a:noFill/>
          <a:ln/>
        </p:spPr>
        <p:txBody>
          <a:bodyPr wrap="square" rtlCol="0" anchor="ctr"/>
          <a:lstStyle/>
          <a:p>
            <a:pPr algn="ctr" indent="0" marL="0">
              <a:buNone/>
            </a:pPr>
            <a:r>
              <a:rPr lang="en-US" sz="1000" dirty="0">
                <a:solidFill>
                  <a:srgbClr val="FF8243"/>
                </a:solidFill>
                <a:latin typeface="Calibri" pitchFamily="34" charset="0"/>
                <a:ea typeface="Calibri" pitchFamily="34" charset="-122"/>
                <a:cs typeface="Calibri" pitchFamily="34" charset="-120"/>
              </a:rPr>
              <a:t>Gmail SMTP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06 — Daily news summary (AI cron)</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Daily personalized market news via email.</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Inngest cron at 12:00 UTC: for each user, fetch news for their watchlist symbols (or fall back to general), summarize via Gemini, send a daily digest email. First proper multi-step Inngest workflow.</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sendDailyNewsSummary Inngest function (cron 0 12 * * *)</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lib/actions/finnhub.action.ts (getNews)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Round-robin article picker (max 6/user)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NEWS_SUMMARY_EMAIL_PROMPT in prompts.ts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step.ai.gemini for AI inference</a:t>
            </a:r>
            <a:endParaRPr lang="en-US" sz="1100" dirty="0"/>
          </a:p>
        </p:txBody>
      </p:sp>
      <p:sp>
        <p:nvSpPr>
          <p:cNvPr id="20" name="Shape 18"/>
          <p:cNvSpPr/>
          <p:nvPr/>
        </p:nvSpPr>
        <p:spPr>
          <a:xfrm>
            <a:off x="8595360" y="2514600"/>
            <a:ext cx="1481328"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481328"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Inngest cron</a:t>
            </a:r>
            <a:endParaRPr lang="en-US" sz="1000" dirty="0"/>
          </a:p>
        </p:txBody>
      </p:sp>
      <p:sp>
        <p:nvSpPr>
          <p:cNvPr id="22" name="Shape 20"/>
          <p:cNvSpPr/>
          <p:nvPr/>
        </p:nvSpPr>
        <p:spPr>
          <a:xfrm>
            <a:off x="10168128" y="2514600"/>
            <a:ext cx="1581912"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168128" y="2514600"/>
            <a:ext cx="1581912"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Finnhub /news</a:t>
            </a:r>
            <a:endParaRPr lang="en-US" sz="1000" dirty="0"/>
          </a:p>
        </p:txBody>
      </p:sp>
      <p:sp>
        <p:nvSpPr>
          <p:cNvPr id="24" name="Shape 22"/>
          <p:cNvSpPr/>
          <p:nvPr/>
        </p:nvSpPr>
        <p:spPr>
          <a:xfrm>
            <a:off x="8595360" y="2898648"/>
            <a:ext cx="1682496"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1682496"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step.ai Gemini</a:t>
            </a:r>
            <a:endParaRPr lang="en-US" sz="1000" dirty="0"/>
          </a:p>
        </p:txBody>
      </p:sp>
      <p:sp>
        <p:nvSpPr>
          <p:cNvPr id="26" name="Shape 24"/>
          <p:cNvSpPr/>
          <p:nvPr/>
        </p:nvSpPr>
        <p:spPr>
          <a:xfrm>
            <a:off x="10369296" y="2898648"/>
            <a:ext cx="1280160"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10369296" y="2898648"/>
            <a:ext cx="1280160"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Nodemailer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07 — Stock search &amp; detail page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141414"/>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9095A1"/>
                </a:solidFill>
                <a:latin typeface="Calibri" pitchFamily="34" charset="0"/>
                <a:ea typeface="Calibri" pitchFamily="34" charset="-122"/>
                <a:cs typeface="Calibri" pitchFamily="34" charset="-120"/>
              </a:rPr>
              <a:t>TUTORIAL BASELINE</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Find any ticker, see its full profile.</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Cmd+K command palette searches Finnhub's symbol API. Stock detail page at /stocks/[symbol] embeds 5 TradingView widgets (symbol info, candle chart, baseline, technical analysis, profile, financials) plus the watchlist toggle.</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components/SearchCommand.tsx (Cmd+K)</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app/(root)/stocks/[symbol]/page.tsx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lib/actions/finnhub.action.ts (searchStocks)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components/WatchlistButton.tsx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useDebounce hook</a:t>
            </a:r>
            <a:endParaRPr lang="en-US" sz="1100" dirty="0"/>
          </a:p>
        </p:txBody>
      </p:sp>
      <p:sp>
        <p:nvSpPr>
          <p:cNvPr id="20" name="Shape 18"/>
          <p:cNvSpPr/>
          <p:nvPr/>
        </p:nvSpPr>
        <p:spPr>
          <a:xfrm>
            <a:off x="8595360" y="2514600"/>
            <a:ext cx="1783080"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783080"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Finnhub /search</a:t>
            </a:r>
            <a:endParaRPr lang="en-US" sz="1000" dirty="0"/>
          </a:p>
        </p:txBody>
      </p:sp>
      <p:sp>
        <p:nvSpPr>
          <p:cNvPr id="22" name="Shape 20"/>
          <p:cNvSpPr/>
          <p:nvPr/>
        </p:nvSpPr>
        <p:spPr>
          <a:xfrm>
            <a:off x="10469880" y="2514600"/>
            <a:ext cx="822960"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469880" y="2514600"/>
            <a:ext cx="822960"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cmdk</a:t>
            </a:r>
            <a:endParaRPr lang="en-US" sz="1000" dirty="0"/>
          </a:p>
        </p:txBody>
      </p:sp>
      <p:sp>
        <p:nvSpPr>
          <p:cNvPr id="24" name="Shape 22"/>
          <p:cNvSpPr/>
          <p:nvPr/>
        </p:nvSpPr>
        <p:spPr>
          <a:xfrm>
            <a:off x="8595360" y="2898648"/>
            <a:ext cx="1380744"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1380744"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TradingView</a:t>
            </a:r>
            <a:endParaRPr lang="en-US" sz="1000" dirty="0"/>
          </a:p>
        </p:txBody>
      </p:sp>
      <p:sp>
        <p:nvSpPr>
          <p:cNvPr id="26" name="Shape 24"/>
          <p:cNvSpPr/>
          <p:nvPr/>
        </p:nvSpPr>
        <p:spPr>
          <a:xfrm>
            <a:off x="10067544" y="2898648"/>
            <a:ext cx="1581912"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10067544" y="2898648"/>
            <a:ext cx="1581912"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React cache()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08 — Paper trading &amp; portfolio analytics</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FDD458"/>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Trade real markets safely with $100k of virtual cash.</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9-step build: 4 Mongoose models, 8 server actions including the atomic trade engine (3 writes in a single MongoDB transaction with weighted-average cost basis), portfolio dashboard with live equity curve from daily snapshots, sector allocation donut, multi-user leaderboard.</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Models: Portfolio, Transaction, Holding, PortfolioSnapshot</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executeTrade with mongoose.startSession().withTransaction()</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/portfolio page: 4 summary cards + equity curve + sector pie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Holdings &amp; transactions tables + per-row sell modal</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/leaderboard page (ranked by all-time return %)</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recordPortfolioSnapshots Inngest cron (22:00 UTC)</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Recharts library integration</a:t>
            </a:r>
            <a:endParaRPr lang="en-US" sz="1100" dirty="0"/>
          </a:p>
        </p:txBody>
      </p:sp>
      <p:sp>
        <p:nvSpPr>
          <p:cNvPr id="20" name="Shape 18"/>
          <p:cNvSpPr/>
          <p:nvPr/>
        </p:nvSpPr>
        <p:spPr>
          <a:xfrm>
            <a:off x="8595360" y="2514600"/>
            <a:ext cx="1380744"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380744"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Mongoose tx</a:t>
            </a:r>
            <a:endParaRPr lang="en-US" sz="1000" dirty="0"/>
          </a:p>
        </p:txBody>
      </p:sp>
      <p:sp>
        <p:nvSpPr>
          <p:cNvPr id="22" name="Shape 20"/>
          <p:cNvSpPr/>
          <p:nvPr/>
        </p:nvSpPr>
        <p:spPr>
          <a:xfrm>
            <a:off x="10067544" y="2514600"/>
            <a:ext cx="1078992"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067544" y="2514600"/>
            <a:ext cx="1078992"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Recharts</a:t>
            </a:r>
            <a:endParaRPr lang="en-US" sz="1000" dirty="0"/>
          </a:p>
        </p:txBody>
      </p:sp>
      <p:sp>
        <p:nvSpPr>
          <p:cNvPr id="24" name="Shape 22"/>
          <p:cNvSpPr/>
          <p:nvPr/>
        </p:nvSpPr>
        <p:spPr>
          <a:xfrm>
            <a:off x="11237976" y="2514600"/>
            <a:ext cx="1481328"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11237976" y="2514600"/>
            <a:ext cx="1481328"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Inngest cron</a:t>
            </a:r>
            <a:endParaRPr lang="en-US" sz="1000" dirty="0"/>
          </a:p>
        </p:txBody>
      </p:sp>
      <p:sp>
        <p:nvSpPr>
          <p:cNvPr id="26" name="Shape 24"/>
          <p:cNvSpPr/>
          <p:nvPr/>
        </p:nvSpPr>
        <p:spPr>
          <a:xfrm>
            <a:off x="8595360" y="2898648"/>
            <a:ext cx="1682496"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8595360" y="2898648"/>
            <a:ext cx="1682496"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Server Actions</a:t>
            </a:r>
            <a:endParaRPr lang="en-US" sz="1000" dirty="0"/>
          </a:p>
        </p:txBody>
      </p:sp>
      <p:sp>
        <p:nvSpPr>
          <p:cNvPr id="28" name="Shape 26"/>
          <p:cNvSpPr/>
          <p:nvPr/>
        </p:nvSpPr>
        <p:spPr>
          <a:xfrm>
            <a:off x="10369296" y="2898648"/>
            <a:ext cx="1682496" cy="292608"/>
          </a:xfrm>
          <a:prstGeom prst="roundRect">
            <a:avLst>
              <a:gd name="adj" fmla="val 18750"/>
            </a:avLst>
          </a:prstGeom>
          <a:solidFill>
            <a:srgbClr val="141414"/>
          </a:solidFill>
          <a:ln w="12700">
            <a:solidFill>
              <a:srgbClr val="FF8243"/>
            </a:solidFill>
            <a:prstDash val="solid"/>
          </a:ln>
        </p:spPr>
      </p:sp>
      <p:sp>
        <p:nvSpPr>
          <p:cNvPr id="29" name="Text 27"/>
          <p:cNvSpPr/>
          <p:nvPr/>
        </p:nvSpPr>
        <p:spPr>
          <a:xfrm>
            <a:off x="10369296" y="2898648"/>
            <a:ext cx="1682496" cy="292608"/>
          </a:xfrm>
          <a:prstGeom prst="rect">
            <a:avLst/>
          </a:prstGeom>
          <a:noFill/>
          <a:ln/>
        </p:spPr>
        <p:txBody>
          <a:bodyPr wrap="square" rtlCol="0" anchor="ctr"/>
          <a:lstStyle/>
          <a:p>
            <a:pPr algn="ctr" indent="0" marL="0">
              <a:buNone/>
            </a:pPr>
            <a:r>
              <a:rPr lang="en-US" sz="1000" dirty="0">
                <a:solidFill>
                  <a:srgbClr val="FF8243"/>
                </a:solidFill>
                <a:latin typeface="Calibri" pitchFamily="34" charset="0"/>
                <a:ea typeface="Calibri" pitchFamily="34" charset="-122"/>
                <a:cs typeface="Calibri" pitchFamily="34" charset="-120"/>
              </a:rPr>
              <a:t>Finnhub /quote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09 — AI investment assistant</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FDD458"/>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Per-stock chatbot, news sentiment AI, weekly recap.</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9-step build introducing two Gemini integration paths: direct REST for the request-scoped chatbot (low latency), and Inngest's step.ai for the daily sentiment scoring cron (durable retries). Sentiment alerts extend the existing AlertModel with an alertCategory field.</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lib/ai/gemini.ts — direct REST helper with responseSchema</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askStockQuestion + StockChatPanel (per-stock chatbot)</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NewsSentiment model + idempotent cron (13:00 UTC)</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Sentiment timeline chart (Recharts stacked bars)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AlertModel.alertCategory (price | sentiment) — backwards-compatible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checkSentimentAlerts cron + sendSentimentAlertEmail</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sendWeeklyRecap cron (Mondays 14:00 UTC)</a:t>
            </a:r>
            <a:endParaRPr lang="en-US" sz="1100" dirty="0"/>
          </a:p>
        </p:txBody>
      </p:sp>
      <p:sp>
        <p:nvSpPr>
          <p:cNvPr id="20" name="Shape 18"/>
          <p:cNvSpPr/>
          <p:nvPr/>
        </p:nvSpPr>
        <p:spPr>
          <a:xfrm>
            <a:off x="8595360" y="2514600"/>
            <a:ext cx="1380744"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380744"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Gemini REST</a:t>
            </a:r>
            <a:endParaRPr lang="en-US" sz="1000" dirty="0"/>
          </a:p>
        </p:txBody>
      </p:sp>
      <p:sp>
        <p:nvSpPr>
          <p:cNvPr id="22" name="Shape 20"/>
          <p:cNvSpPr/>
          <p:nvPr/>
        </p:nvSpPr>
        <p:spPr>
          <a:xfrm>
            <a:off x="10067544" y="2514600"/>
            <a:ext cx="978408"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067544" y="2514600"/>
            <a:ext cx="978408"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step.ai</a:t>
            </a:r>
            <a:endParaRPr lang="en-US" sz="1000" dirty="0"/>
          </a:p>
        </p:txBody>
      </p:sp>
      <p:sp>
        <p:nvSpPr>
          <p:cNvPr id="24" name="Shape 22"/>
          <p:cNvSpPr/>
          <p:nvPr/>
        </p:nvSpPr>
        <p:spPr>
          <a:xfrm>
            <a:off x="11137392" y="2514600"/>
            <a:ext cx="1682496"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11137392" y="2514600"/>
            <a:ext cx="1682496"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responseSchema</a:t>
            </a:r>
            <a:endParaRPr lang="en-US" sz="1000" dirty="0"/>
          </a:p>
        </p:txBody>
      </p:sp>
      <p:sp>
        <p:nvSpPr>
          <p:cNvPr id="26" name="Shape 24"/>
          <p:cNvSpPr/>
          <p:nvPr/>
        </p:nvSpPr>
        <p:spPr>
          <a:xfrm>
            <a:off x="8595360" y="2898648"/>
            <a:ext cx="1078992"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8595360" y="2898648"/>
            <a:ext cx="1078992"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Recharts</a:t>
            </a:r>
            <a:endParaRPr lang="en-US" sz="1000" dirty="0"/>
          </a:p>
        </p:txBody>
      </p:sp>
      <p:sp>
        <p:nvSpPr>
          <p:cNvPr id="28" name="Shape 26"/>
          <p:cNvSpPr/>
          <p:nvPr/>
        </p:nvSpPr>
        <p:spPr>
          <a:xfrm>
            <a:off x="9765792" y="2898648"/>
            <a:ext cx="978408" cy="292608"/>
          </a:xfrm>
          <a:prstGeom prst="roundRect">
            <a:avLst>
              <a:gd name="adj" fmla="val 18750"/>
            </a:avLst>
          </a:prstGeom>
          <a:solidFill>
            <a:srgbClr val="141414"/>
          </a:solidFill>
          <a:ln w="12700">
            <a:solidFill>
              <a:srgbClr val="FF8243"/>
            </a:solidFill>
            <a:prstDash val="solid"/>
          </a:ln>
        </p:spPr>
      </p:sp>
      <p:sp>
        <p:nvSpPr>
          <p:cNvPr id="29" name="Text 27"/>
          <p:cNvSpPr/>
          <p:nvPr/>
        </p:nvSpPr>
        <p:spPr>
          <a:xfrm>
            <a:off x="9765792" y="2898648"/>
            <a:ext cx="978408" cy="292608"/>
          </a:xfrm>
          <a:prstGeom prst="rect">
            <a:avLst/>
          </a:prstGeom>
          <a:noFill/>
          <a:ln/>
        </p:spPr>
        <p:txBody>
          <a:bodyPr wrap="square" rtlCol="0" anchor="ctr"/>
          <a:lstStyle/>
          <a:p>
            <a:pPr algn="ctr" indent="0" marL="0">
              <a:buNone/>
            </a:pPr>
            <a:r>
              <a:rPr lang="en-US" sz="1000" dirty="0">
                <a:solidFill>
                  <a:srgbClr val="FF8243"/>
                </a:solidFill>
                <a:latin typeface="Calibri" pitchFamily="34" charset="0"/>
                <a:ea typeface="Calibri" pitchFamily="34" charset="-122"/>
                <a:cs typeface="Calibri" pitchFamily="34" charset="-120"/>
              </a:rPr>
              <a:t>Inngest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10 — Documentation &amp; Mermaid diagrams</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FDD458"/>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Make the code defensible, not just functional.</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Replace the boilerplate Next.js README with a proper project doc, then write four deeper docs in /docs/ — architecture, pipelines, methodology, presentation outline. Seven Mermaid diagrams for system, data, and the four key pipelines.</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README.md overhaul with originality statement</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docs/ARCHITECTURE.md — system + ER diagrams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docs/PIPELINES.md — 4 sequence diagrams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docs/METHODOLOGY.md — tech rationale + limitations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docs/PRESENTATION.md — slide outline + demo + Q&amp;A</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PFA_LOG.md — chronological build log (~1000 lines)</a:t>
            </a:r>
            <a:endParaRPr lang="en-US" sz="1100" dirty="0"/>
          </a:p>
        </p:txBody>
      </p:sp>
      <p:sp>
        <p:nvSpPr>
          <p:cNvPr id="20" name="Shape 18"/>
          <p:cNvSpPr/>
          <p:nvPr/>
        </p:nvSpPr>
        <p:spPr>
          <a:xfrm>
            <a:off x="8595360" y="2514600"/>
            <a:ext cx="1078992"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078992"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Markdown</a:t>
            </a:r>
            <a:endParaRPr lang="en-US" sz="1000" dirty="0"/>
          </a:p>
        </p:txBody>
      </p:sp>
      <p:sp>
        <p:nvSpPr>
          <p:cNvPr id="22" name="Shape 20"/>
          <p:cNvSpPr/>
          <p:nvPr/>
        </p:nvSpPr>
        <p:spPr>
          <a:xfrm>
            <a:off x="9765792" y="2514600"/>
            <a:ext cx="5001768"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9765792" y="2514600"/>
            <a:ext cx="5001768"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Mermaid (flowchart, erDiagram, sequenceDiagram)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11 — Marketing landing page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FDD458"/>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First impression worthy of the work behind it.</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Restructured routing: dashboard moves to /dashboard, public landing at /. New landing has a hero with floating mock product cards over a dashboard preview, scrolling ticker tape, 4-pillar grid, How it works, Stats band, Showcase, CTA, Footer. Page-wide aurora + film-grain noise + drift animations for visual depth.</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Routing restructure (/ public, /dashboard protected)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components/landing/{Hero,Pillars,Showcase,CTA,Footer,Stats,HowItWorks,TickerTape}.tsx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components/LandingHeader.tsx</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Floating mock cards (price, sentiment, P&amp;L, chat)</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Aurora + noise + drift animations in globals.css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Middleware update for unauth /, /forgot-password, /reset-password</a:t>
            </a:r>
            <a:endParaRPr lang="en-US" sz="1100" dirty="0"/>
          </a:p>
        </p:txBody>
      </p:sp>
      <p:sp>
        <p:nvSpPr>
          <p:cNvPr id="20" name="Shape 18"/>
          <p:cNvSpPr/>
          <p:nvPr/>
        </p:nvSpPr>
        <p:spPr>
          <a:xfrm>
            <a:off x="8595360" y="2514600"/>
            <a:ext cx="1783080"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783080"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Next.js routing</a:t>
            </a:r>
            <a:endParaRPr lang="en-US" sz="1000" dirty="0"/>
          </a:p>
        </p:txBody>
      </p:sp>
      <p:sp>
        <p:nvSpPr>
          <p:cNvPr id="22" name="Shape 20"/>
          <p:cNvSpPr/>
          <p:nvPr/>
        </p:nvSpPr>
        <p:spPr>
          <a:xfrm>
            <a:off x="10469880" y="2514600"/>
            <a:ext cx="1581912"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10469880" y="2514600"/>
            <a:ext cx="1581912"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CSS keyframes</a:t>
            </a:r>
            <a:endParaRPr lang="en-US" sz="1000" dirty="0"/>
          </a:p>
        </p:txBody>
      </p:sp>
      <p:sp>
        <p:nvSpPr>
          <p:cNvPr id="24" name="Shape 22"/>
          <p:cNvSpPr/>
          <p:nvPr/>
        </p:nvSpPr>
        <p:spPr>
          <a:xfrm>
            <a:off x="8595360" y="2898648"/>
            <a:ext cx="1179576" cy="292608"/>
          </a:xfrm>
          <a:prstGeom prst="roundRect">
            <a:avLst>
              <a:gd name="adj" fmla="val 18750"/>
            </a:avLst>
          </a:prstGeom>
          <a:solidFill>
            <a:srgbClr val="141414"/>
          </a:solidFill>
          <a:ln w="12700">
            <a:solidFill>
              <a:srgbClr val="D13BFF"/>
            </a:solidFill>
            <a:prstDash val="solid"/>
          </a:ln>
        </p:spPr>
      </p:sp>
      <p:sp>
        <p:nvSpPr>
          <p:cNvPr id="25" name="Text 23"/>
          <p:cNvSpPr/>
          <p:nvPr/>
        </p:nvSpPr>
        <p:spPr>
          <a:xfrm>
            <a:off x="8595360" y="2898648"/>
            <a:ext cx="1179576" cy="292608"/>
          </a:xfrm>
          <a:prstGeom prst="rect">
            <a:avLst/>
          </a:prstGeom>
          <a:noFill/>
          <a:ln/>
        </p:spPr>
        <p:txBody>
          <a:bodyPr wrap="square" rtlCol="0" anchor="ctr"/>
          <a:lstStyle/>
          <a:p>
            <a:pPr algn="ctr" indent="0" marL="0">
              <a:buNone/>
            </a:pPr>
            <a:r>
              <a:rPr lang="en-US" sz="1000" dirty="0">
                <a:solidFill>
                  <a:srgbClr val="D13BFF"/>
                </a:solidFill>
                <a:latin typeface="Calibri" pitchFamily="34" charset="0"/>
                <a:ea typeface="Calibri" pitchFamily="34" charset="-122"/>
                <a:cs typeface="Calibri" pitchFamily="34" charset="-120"/>
              </a:rPr>
              <a:t>SVG noise</a:t>
            </a:r>
            <a:endParaRPr lang="en-US" sz="1000" dirty="0"/>
          </a:p>
        </p:txBody>
      </p:sp>
      <p:sp>
        <p:nvSpPr>
          <p:cNvPr id="26" name="Shape 24"/>
          <p:cNvSpPr/>
          <p:nvPr/>
        </p:nvSpPr>
        <p:spPr>
          <a:xfrm>
            <a:off x="9866376" y="2898648"/>
            <a:ext cx="1078992" cy="292608"/>
          </a:xfrm>
          <a:prstGeom prst="roundRect">
            <a:avLst>
              <a:gd name="adj" fmla="val 18750"/>
            </a:avLst>
          </a:prstGeom>
          <a:solidFill>
            <a:srgbClr val="141414"/>
          </a:solidFill>
          <a:ln w="12700">
            <a:solidFill>
              <a:srgbClr val="5862FF"/>
            </a:solidFill>
            <a:prstDash val="solid"/>
          </a:ln>
        </p:spPr>
      </p:sp>
      <p:sp>
        <p:nvSpPr>
          <p:cNvPr id="27" name="Text 25"/>
          <p:cNvSpPr/>
          <p:nvPr/>
        </p:nvSpPr>
        <p:spPr>
          <a:xfrm>
            <a:off x="9866376" y="2898648"/>
            <a:ext cx="1078992" cy="292608"/>
          </a:xfrm>
          <a:prstGeom prst="rect">
            <a:avLst/>
          </a:prstGeom>
          <a:noFill/>
          <a:ln/>
        </p:spPr>
        <p:txBody>
          <a:bodyPr wrap="square" rtlCol="0" anchor="ctr"/>
          <a:lstStyle/>
          <a:p>
            <a:pPr algn="ctr" indent="0" marL="0">
              <a:buNone/>
            </a:pPr>
            <a:r>
              <a:rPr lang="en-US" sz="1000" dirty="0">
                <a:solidFill>
                  <a:srgbClr val="5862FF"/>
                </a:solidFill>
                <a:latin typeface="Calibri" pitchFamily="34" charset="0"/>
                <a:ea typeface="Calibri" pitchFamily="34" charset="-122"/>
                <a:cs typeface="Calibri" pitchFamily="34" charset="-120"/>
              </a:rPr>
              <a:t>Tailwind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Sprint 12 — Defense prep — slide deck &amp; demo script</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325880"/>
            <a:ext cx="1737360" cy="292608"/>
          </a:xfrm>
          <a:prstGeom prst="roundRect">
            <a:avLst>
              <a:gd name="adj" fmla="val 31250"/>
            </a:avLst>
          </a:prstGeom>
          <a:solidFill>
            <a:srgbClr val="FDD458"/>
          </a:solidFill>
          <a:ln/>
        </p:spPr>
      </p:sp>
      <p:sp>
        <p:nvSpPr>
          <p:cNvPr id="7" name="Text 5"/>
          <p:cNvSpPr/>
          <p:nvPr/>
        </p:nvSpPr>
        <p:spPr>
          <a:xfrm>
            <a:off x="548640" y="1325880"/>
            <a:ext cx="1737360" cy="292608"/>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ORIGINAL</a:t>
            </a:r>
            <a:endParaRPr lang="en-US" sz="1000" dirty="0"/>
          </a:p>
        </p:txBody>
      </p:sp>
      <p:sp>
        <p:nvSpPr>
          <p:cNvPr id="8" name="Shape 6"/>
          <p:cNvSpPr/>
          <p:nvPr/>
        </p:nvSpPr>
        <p:spPr>
          <a:xfrm>
            <a:off x="548640" y="1828800"/>
            <a:ext cx="3657600" cy="4206240"/>
          </a:xfrm>
          <a:prstGeom prst="roundRect">
            <a:avLst>
              <a:gd name="adj" fmla="val 2000"/>
            </a:avLst>
          </a:prstGeom>
          <a:solidFill>
            <a:srgbClr val="141414"/>
          </a:solidFill>
          <a:ln w="12700">
            <a:solidFill>
              <a:srgbClr val="30333A"/>
            </a:solidFill>
            <a:prstDash val="solid"/>
          </a:ln>
        </p:spPr>
      </p:sp>
      <p:sp>
        <p:nvSpPr>
          <p:cNvPr id="9" name="Text 7"/>
          <p:cNvSpPr/>
          <p:nvPr/>
        </p:nvSpPr>
        <p:spPr>
          <a:xfrm>
            <a:off x="731520" y="2011680"/>
            <a:ext cx="32918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GOAL &amp; FUNCTION</a:t>
            </a:r>
            <a:endParaRPr lang="en-US" sz="1100" dirty="0"/>
          </a:p>
        </p:txBody>
      </p:sp>
      <p:sp>
        <p:nvSpPr>
          <p:cNvPr id="10" name="Shape 8"/>
          <p:cNvSpPr/>
          <p:nvPr/>
        </p:nvSpPr>
        <p:spPr>
          <a:xfrm>
            <a:off x="731520" y="2304288"/>
            <a:ext cx="365760" cy="0"/>
          </a:xfrm>
          <a:prstGeom prst="line">
            <a:avLst/>
          </a:prstGeom>
          <a:noFill/>
          <a:ln w="19050">
            <a:solidFill>
              <a:srgbClr val="FDD458"/>
            </a:solidFill>
            <a:prstDash val="solid"/>
          </a:ln>
        </p:spPr>
      </p:sp>
      <p:sp>
        <p:nvSpPr>
          <p:cNvPr id="11" name="Shape 9"/>
          <p:cNvSpPr/>
          <p:nvPr/>
        </p:nvSpPr>
        <p:spPr>
          <a:xfrm>
            <a:off x="4297680" y="1828800"/>
            <a:ext cx="4023360" cy="4206240"/>
          </a:xfrm>
          <a:prstGeom prst="roundRect">
            <a:avLst>
              <a:gd name="adj" fmla="val 1818"/>
            </a:avLst>
          </a:prstGeom>
          <a:solidFill>
            <a:srgbClr val="141414"/>
          </a:solidFill>
          <a:ln w="12700">
            <a:solidFill>
              <a:srgbClr val="30333A"/>
            </a:solidFill>
            <a:prstDash val="solid"/>
          </a:ln>
        </p:spPr>
      </p:sp>
      <p:sp>
        <p:nvSpPr>
          <p:cNvPr id="12" name="Text 10"/>
          <p:cNvSpPr/>
          <p:nvPr/>
        </p:nvSpPr>
        <p:spPr>
          <a:xfrm>
            <a:off x="4480560" y="2011680"/>
            <a:ext cx="365760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DELIVERED</a:t>
            </a:r>
            <a:endParaRPr lang="en-US" sz="1100" dirty="0"/>
          </a:p>
        </p:txBody>
      </p:sp>
      <p:sp>
        <p:nvSpPr>
          <p:cNvPr id="13" name="Shape 11"/>
          <p:cNvSpPr/>
          <p:nvPr/>
        </p:nvSpPr>
        <p:spPr>
          <a:xfrm>
            <a:off x="4480560" y="2304288"/>
            <a:ext cx="365760" cy="0"/>
          </a:xfrm>
          <a:prstGeom prst="line">
            <a:avLst/>
          </a:prstGeom>
          <a:noFill/>
          <a:ln w="19050">
            <a:solidFill>
              <a:srgbClr val="0FEDBE"/>
            </a:solidFill>
            <a:prstDash val="solid"/>
          </a:ln>
        </p:spPr>
      </p:sp>
      <p:sp>
        <p:nvSpPr>
          <p:cNvPr id="14" name="Shape 12"/>
          <p:cNvSpPr/>
          <p:nvPr/>
        </p:nvSpPr>
        <p:spPr>
          <a:xfrm>
            <a:off x="8412480" y="1828800"/>
            <a:ext cx="3200400" cy="4206240"/>
          </a:xfrm>
          <a:prstGeom prst="roundRect">
            <a:avLst>
              <a:gd name="adj" fmla="val 2286"/>
            </a:avLst>
          </a:prstGeom>
          <a:solidFill>
            <a:srgbClr val="141414"/>
          </a:solidFill>
          <a:ln w="12700">
            <a:solidFill>
              <a:srgbClr val="30333A"/>
            </a:solidFill>
            <a:prstDash val="solid"/>
          </a:ln>
        </p:spPr>
      </p:sp>
      <p:sp>
        <p:nvSpPr>
          <p:cNvPr id="15" name="Text 13"/>
          <p:cNvSpPr/>
          <p:nvPr/>
        </p:nvSpPr>
        <p:spPr>
          <a:xfrm>
            <a:off x="8595360" y="2011680"/>
            <a:ext cx="283464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 USED</a:t>
            </a:r>
            <a:endParaRPr lang="en-US" sz="1100" dirty="0"/>
          </a:p>
        </p:txBody>
      </p:sp>
      <p:sp>
        <p:nvSpPr>
          <p:cNvPr id="16" name="Shape 14"/>
          <p:cNvSpPr/>
          <p:nvPr/>
        </p:nvSpPr>
        <p:spPr>
          <a:xfrm>
            <a:off x="8595360" y="2304288"/>
            <a:ext cx="365760" cy="0"/>
          </a:xfrm>
          <a:prstGeom prst="line">
            <a:avLst/>
          </a:prstGeom>
          <a:noFill/>
          <a:ln w="19050">
            <a:solidFill>
              <a:srgbClr val="D13BFF"/>
            </a:solidFill>
            <a:prstDash val="solid"/>
          </a:ln>
        </p:spPr>
      </p:sp>
      <p:sp>
        <p:nvSpPr>
          <p:cNvPr id="17" name="Text 15"/>
          <p:cNvSpPr/>
          <p:nvPr/>
        </p:nvSpPr>
        <p:spPr>
          <a:xfrm>
            <a:off x="731520" y="2468880"/>
            <a:ext cx="3291840" cy="914400"/>
          </a:xfrm>
          <a:prstGeom prst="rect">
            <a:avLst/>
          </a:prstGeom>
          <a:noFill/>
          <a:ln/>
        </p:spPr>
        <p:txBody>
          <a:bodyPr wrap="square"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A defensible 25-minute presentation, ready to ship.</a:t>
            </a:r>
            <a:endParaRPr lang="en-US" sz="1300" dirty="0"/>
          </a:p>
        </p:txBody>
      </p:sp>
      <p:sp>
        <p:nvSpPr>
          <p:cNvPr id="18" name="Text 16"/>
          <p:cNvSpPr/>
          <p:nvPr/>
        </p:nvSpPr>
        <p:spPr>
          <a:xfrm>
            <a:off x="731520" y="3520440"/>
            <a:ext cx="3291840" cy="2377440"/>
          </a:xfrm>
          <a:prstGeom prst="rect">
            <a:avLst/>
          </a:prstGeom>
          <a:noFill/>
          <a:ln/>
        </p:spPr>
        <p:txBody>
          <a:bodyPr wrap="square" rtlCol="0" anchor="ctr"/>
          <a:lstStyle/>
          <a:p>
            <a:pPr indent="0" marL="0">
              <a:spcAft>
                <a:spcPts val="400"/>
              </a:spcAft>
              <a:buNone/>
            </a:pPr>
            <a:r>
              <a:rPr lang="en-US" sz="1100" dirty="0">
                <a:solidFill>
                  <a:srgbClr val="CCDADC"/>
                </a:solidFill>
                <a:latin typeface="Calibri" pitchFamily="34" charset="0"/>
                <a:ea typeface="Calibri" pitchFamily="34" charset="-122"/>
                <a:cs typeface="Calibri" pitchFamily="34" charset="-120"/>
              </a:rPr>
              <a:t>Generated this slide deck programmatically via pptxgenjs from the documentation outline, including speaker notes for every slide, a 10-step demo script, and 10 anticipated jury questions with full answers. Zero PowerPoint manual work beyond filling placeholders.</a:t>
            </a:r>
            <a:endParaRPr lang="en-US" sz="1100" dirty="0"/>
          </a:p>
        </p:txBody>
      </p:sp>
      <p:sp>
        <p:nvSpPr>
          <p:cNvPr id="19" name="Text 17"/>
          <p:cNvSpPr/>
          <p:nvPr/>
        </p:nvSpPr>
        <p:spPr>
          <a:xfrm>
            <a:off x="4480560" y="2468880"/>
            <a:ext cx="3657600" cy="347472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scripts/generate-pptx.mjs (this script)</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wealthflow-defense.pptx (37 slides)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Speaker notes pulled from PRESENTATION.md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Demo script in slide 13's notes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Anticipated Q&amp;A in final slide notes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Pre-defense checklist in PRESENTATION.md</a:t>
            </a:r>
            <a:endParaRPr lang="en-US" sz="1100" dirty="0"/>
          </a:p>
        </p:txBody>
      </p:sp>
      <p:sp>
        <p:nvSpPr>
          <p:cNvPr id="20" name="Shape 18"/>
          <p:cNvSpPr/>
          <p:nvPr/>
        </p:nvSpPr>
        <p:spPr>
          <a:xfrm>
            <a:off x="8595360" y="2514600"/>
            <a:ext cx="1179576" cy="292608"/>
          </a:xfrm>
          <a:prstGeom prst="roundRect">
            <a:avLst>
              <a:gd name="adj" fmla="val 18750"/>
            </a:avLst>
          </a:prstGeom>
          <a:solidFill>
            <a:srgbClr val="141414"/>
          </a:solidFill>
          <a:ln w="12700">
            <a:solidFill>
              <a:srgbClr val="FDD458"/>
            </a:solidFill>
            <a:prstDash val="solid"/>
          </a:ln>
        </p:spPr>
      </p:sp>
      <p:sp>
        <p:nvSpPr>
          <p:cNvPr id="21" name="Text 19"/>
          <p:cNvSpPr/>
          <p:nvPr/>
        </p:nvSpPr>
        <p:spPr>
          <a:xfrm>
            <a:off x="8595360" y="2514600"/>
            <a:ext cx="1179576" cy="292608"/>
          </a:xfrm>
          <a:prstGeom prst="rect">
            <a:avLst/>
          </a:prstGeom>
          <a:noFill/>
          <a:ln/>
        </p:spPr>
        <p:txBody>
          <a:bodyPr wrap="square" rtlCol="0" anchor="ctr"/>
          <a:lstStyle/>
          <a:p>
            <a:pPr algn="ctr" indent="0" marL="0">
              <a:buNone/>
            </a:pPr>
            <a:r>
              <a:rPr lang="en-US" sz="1000" dirty="0">
                <a:solidFill>
                  <a:srgbClr val="FDD458"/>
                </a:solidFill>
                <a:latin typeface="Calibri" pitchFamily="34" charset="0"/>
                <a:ea typeface="Calibri" pitchFamily="34" charset="-122"/>
                <a:cs typeface="Calibri" pitchFamily="34" charset="-120"/>
              </a:rPr>
              <a:t>pptxgenjs</a:t>
            </a:r>
            <a:endParaRPr lang="en-US" sz="1000" dirty="0"/>
          </a:p>
        </p:txBody>
      </p:sp>
      <p:sp>
        <p:nvSpPr>
          <p:cNvPr id="22" name="Shape 20"/>
          <p:cNvSpPr/>
          <p:nvPr/>
        </p:nvSpPr>
        <p:spPr>
          <a:xfrm>
            <a:off x="9866376" y="2514600"/>
            <a:ext cx="1078992" cy="292608"/>
          </a:xfrm>
          <a:prstGeom prst="roundRect">
            <a:avLst>
              <a:gd name="adj" fmla="val 18750"/>
            </a:avLst>
          </a:prstGeom>
          <a:solidFill>
            <a:srgbClr val="141414"/>
          </a:solidFill>
          <a:ln w="12700">
            <a:solidFill>
              <a:srgbClr val="0FEDBE"/>
            </a:solidFill>
            <a:prstDash val="solid"/>
          </a:ln>
        </p:spPr>
      </p:sp>
      <p:sp>
        <p:nvSpPr>
          <p:cNvPr id="23" name="Text 21"/>
          <p:cNvSpPr/>
          <p:nvPr/>
        </p:nvSpPr>
        <p:spPr>
          <a:xfrm>
            <a:off x="9866376" y="2514600"/>
            <a:ext cx="1078992" cy="292608"/>
          </a:xfrm>
          <a:prstGeom prst="rect">
            <a:avLst/>
          </a:prstGeom>
          <a:noFill/>
          <a:ln/>
        </p:spPr>
        <p:txBody>
          <a:bodyPr wrap="square" rtlCol="0" anchor="ctr"/>
          <a:lstStyle/>
          <a:p>
            <a:pPr algn="ctr" indent="0" marL="0">
              <a:buNone/>
            </a:pPr>
            <a:r>
              <a:rPr lang="en-US" sz="1000" dirty="0">
                <a:solidFill>
                  <a:srgbClr val="0FEDBE"/>
                </a:solidFill>
                <a:latin typeface="Calibri" pitchFamily="34" charset="0"/>
                <a:ea typeface="Calibri" pitchFamily="34" charset="-122"/>
                <a:cs typeface="Calibri" pitchFamily="34" charset="-120"/>
              </a:rPr>
              <a:t>Node ESM</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stack at a glance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1371600" y="1554480"/>
            <a:ext cx="164592" cy="457200"/>
          </a:xfrm>
          <a:prstGeom prst="rect">
            <a:avLst/>
          </a:prstGeom>
          <a:solidFill>
            <a:srgbClr val="5862FF"/>
          </a:solidFill>
          <a:ln/>
        </p:spPr>
      </p:sp>
      <p:sp>
        <p:nvSpPr>
          <p:cNvPr id="7" name="Text 5"/>
          <p:cNvSpPr/>
          <p:nvPr/>
        </p:nvSpPr>
        <p:spPr>
          <a:xfrm>
            <a:off x="1691640" y="155448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8" name="Text 6"/>
          <p:cNvSpPr/>
          <p:nvPr/>
        </p:nvSpPr>
        <p:spPr>
          <a:xfrm>
            <a:off x="3840480" y="155448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Next.js 16 · React 19 · TypeScript · Tailwind CSS 4 · shadcn/ui · Recharts</a:t>
            </a:r>
            <a:endParaRPr lang="en-US" sz="1300" dirty="0"/>
          </a:p>
        </p:txBody>
      </p:sp>
      <p:sp>
        <p:nvSpPr>
          <p:cNvPr id="9" name="Shape 7"/>
          <p:cNvSpPr/>
          <p:nvPr/>
        </p:nvSpPr>
        <p:spPr>
          <a:xfrm>
            <a:off x="1371600" y="2148840"/>
            <a:ext cx="164592" cy="457200"/>
          </a:xfrm>
          <a:prstGeom prst="rect">
            <a:avLst/>
          </a:prstGeom>
          <a:solidFill>
            <a:srgbClr val="D13BFF"/>
          </a:solidFill>
          <a:ln/>
        </p:spPr>
      </p:sp>
      <p:sp>
        <p:nvSpPr>
          <p:cNvPr id="10" name="Text 8"/>
          <p:cNvSpPr/>
          <p:nvPr/>
        </p:nvSpPr>
        <p:spPr>
          <a:xfrm>
            <a:off x="1691640" y="214884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11" name="Text 9"/>
          <p:cNvSpPr/>
          <p:nvPr/>
        </p:nvSpPr>
        <p:spPr>
          <a:xfrm>
            <a:off x="3840480" y="214884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Server Actions · Route Handlers · Middleware (session gate)</a:t>
            </a:r>
            <a:endParaRPr lang="en-US" sz="1300" dirty="0"/>
          </a:p>
        </p:txBody>
      </p:sp>
      <p:sp>
        <p:nvSpPr>
          <p:cNvPr id="12" name="Shape 10"/>
          <p:cNvSpPr/>
          <p:nvPr/>
        </p:nvSpPr>
        <p:spPr>
          <a:xfrm>
            <a:off x="1371600" y="2743200"/>
            <a:ext cx="164592" cy="457200"/>
          </a:xfrm>
          <a:prstGeom prst="rect">
            <a:avLst/>
          </a:prstGeom>
          <a:solidFill>
            <a:srgbClr val="0FEDBE"/>
          </a:solidFill>
          <a:ln/>
        </p:spPr>
      </p:sp>
      <p:sp>
        <p:nvSpPr>
          <p:cNvPr id="13" name="Text 11"/>
          <p:cNvSpPr/>
          <p:nvPr/>
        </p:nvSpPr>
        <p:spPr>
          <a:xfrm>
            <a:off x="1691640" y="274320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Auth</a:t>
            </a:r>
            <a:endParaRPr lang="en-US" sz="1600" dirty="0"/>
          </a:p>
        </p:txBody>
      </p:sp>
      <p:sp>
        <p:nvSpPr>
          <p:cNvPr id="14" name="Text 12"/>
          <p:cNvSpPr/>
          <p:nvPr/>
        </p:nvSpPr>
        <p:spPr>
          <a:xfrm>
            <a:off x="3840480" y="274320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better-auth (MongoDB adapter, session cookies)</a:t>
            </a:r>
            <a:endParaRPr lang="en-US" sz="1300" dirty="0"/>
          </a:p>
        </p:txBody>
      </p:sp>
      <p:sp>
        <p:nvSpPr>
          <p:cNvPr id="15" name="Shape 13"/>
          <p:cNvSpPr/>
          <p:nvPr/>
        </p:nvSpPr>
        <p:spPr>
          <a:xfrm>
            <a:off x="1371600" y="3337560"/>
            <a:ext cx="164592" cy="457200"/>
          </a:xfrm>
          <a:prstGeom prst="rect">
            <a:avLst/>
          </a:prstGeom>
          <a:solidFill>
            <a:srgbClr val="FDD458"/>
          </a:solidFill>
          <a:ln/>
        </p:spPr>
      </p:sp>
      <p:sp>
        <p:nvSpPr>
          <p:cNvPr id="16" name="Text 14"/>
          <p:cNvSpPr/>
          <p:nvPr/>
        </p:nvSpPr>
        <p:spPr>
          <a:xfrm>
            <a:off x="1691640" y="333756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a:t>
            </a:r>
            <a:endParaRPr lang="en-US" sz="1600" dirty="0"/>
          </a:p>
        </p:txBody>
      </p:sp>
      <p:sp>
        <p:nvSpPr>
          <p:cNvPr id="17" name="Text 15"/>
          <p:cNvSpPr/>
          <p:nvPr/>
        </p:nvSpPr>
        <p:spPr>
          <a:xfrm>
            <a:off x="3840480" y="333756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MongoDB Atlas (replica set → transactions) · Mongoose 9 ODM</a:t>
            </a:r>
            <a:endParaRPr lang="en-US" sz="1300" dirty="0"/>
          </a:p>
        </p:txBody>
      </p:sp>
      <p:sp>
        <p:nvSpPr>
          <p:cNvPr id="18" name="Shape 16"/>
          <p:cNvSpPr/>
          <p:nvPr/>
        </p:nvSpPr>
        <p:spPr>
          <a:xfrm>
            <a:off x="1371600" y="3931920"/>
            <a:ext cx="164592" cy="457200"/>
          </a:xfrm>
          <a:prstGeom prst="rect">
            <a:avLst/>
          </a:prstGeom>
          <a:solidFill>
            <a:srgbClr val="FF8243"/>
          </a:solidFill>
          <a:ln/>
        </p:spPr>
      </p:sp>
      <p:sp>
        <p:nvSpPr>
          <p:cNvPr id="19" name="Text 17"/>
          <p:cNvSpPr/>
          <p:nvPr/>
        </p:nvSpPr>
        <p:spPr>
          <a:xfrm>
            <a:off x="1691640" y="393192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Background</a:t>
            </a:r>
            <a:endParaRPr lang="en-US" sz="1600" dirty="0"/>
          </a:p>
        </p:txBody>
      </p:sp>
      <p:sp>
        <p:nvSpPr>
          <p:cNvPr id="20" name="Text 18"/>
          <p:cNvSpPr/>
          <p:nvPr/>
        </p:nvSpPr>
        <p:spPr>
          <a:xfrm>
            <a:off x="3840480" y="393192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Inngest · 7 cron + AI workflow functions · durable retries</a:t>
            </a:r>
            <a:endParaRPr lang="en-US" sz="1300" dirty="0"/>
          </a:p>
        </p:txBody>
      </p:sp>
      <p:sp>
        <p:nvSpPr>
          <p:cNvPr id="21" name="Shape 19"/>
          <p:cNvSpPr/>
          <p:nvPr/>
        </p:nvSpPr>
        <p:spPr>
          <a:xfrm>
            <a:off x="1371600" y="4526280"/>
            <a:ext cx="164592" cy="457200"/>
          </a:xfrm>
          <a:prstGeom prst="rect">
            <a:avLst/>
          </a:prstGeom>
          <a:solidFill>
            <a:srgbClr val="D13BFF"/>
          </a:solidFill>
          <a:ln/>
        </p:spPr>
      </p:sp>
      <p:sp>
        <p:nvSpPr>
          <p:cNvPr id="22" name="Text 20"/>
          <p:cNvSpPr/>
          <p:nvPr/>
        </p:nvSpPr>
        <p:spPr>
          <a:xfrm>
            <a:off x="1691640" y="452628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a:t>
            </a:r>
            <a:endParaRPr lang="en-US" sz="1600" dirty="0"/>
          </a:p>
        </p:txBody>
      </p:sp>
      <p:sp>
        <p:nvSpPr>
          <p:cNvPr id="23" name="Text 21"/>
          <p:cNvSpPr/>
          <p:nvPr/>
        </p:nvSpPr>
        <p:spPr>
          <a:xfrm>
            <a:off x="3840480" y="452628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Google Gemini · two paths: direct REST (chat) + step.ai (cron)</a:t>
            </a:r>
            <a:endParaRPr lang="en-US" sz="1300" dirty="0"/>
          </a:p>
        </p:txBody>
      </p:sp>
      <p:sp>
        <p:nvSpPr>
          <p:cNvPr id="24" name="Shape 22"/>
          <p:cNvSpPr/>
          <p:nvPr/>
        </p:nvSpPr>
        <p:spPr>
          <a:xfrm>
            <a:off x="1371600" y="5120640"/>
            <a:ext cx="164592" cy="457200"/>
          </a:xfrm>
          <a:prstGeom prst="rect">
            <a:avLst/>
          </a:prstGeom>
          <a:solidFill>
            <a:srgbClr val="9095A1"/>
          </a:solidFill>
          <a:ln/>
        </p:spPr>
      </p:sp>
      <p:sp>
        <p:nvSpPr>
          <p:cNvPr id="25" name="Text 23"/>
          <p:cNvSpPr/>
          <p:nvPr/>
        </p:nvSpPr>
        <p:spPr>
          <a:xfrm>
            <a:off x="1691640" y="5120640"/>
            <a:ext cx="21031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External</a:t>
            </a:r>
            <a:endParaRPr lang="en-US" sz="1600" dirty="0"/>
          </a:p>
        </p:txBody>
      </p:sp>
      <p:sp>
        <p:nvSpPr>
          <p:cNvPr id="26" name="Text 24"/>
          <p:cNvSpPr/>
          <p:nvPr/>
        </p:nvSpPr>
        <p:spPr>
          <a:xfrm>
            <a:off x="3840480" y="5120640"/>
            <a:ext cx="68580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Finnhub (quotes/news) · TradingView (widgets) · Gmail SMTP (email)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Next.js 16</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Server-first React framework with App Router, Server Components, and Server Actions</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Hosts every UI surface (landing, auth, dashboard, /portfolio, /leaderboard, /stocks/[symbol]) and every mutation (server actions). Middleware enforces the session gate on protected routes. Route Handlers expose /api/auth (better-auth) and /api/inngest (cron entry).</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Server-first reduces client JS shipped (fast TTI). Server Actions give a type-safe mutation surface without writing a parallel REST layer. Built-in fetch caching with revalidate is exactly what we need for Finnhub responses. RSC + Suspense work cleanly together.</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App Router file-based routing — (auth), (root) groups for layouts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React Server Components rendered on server, no JS for them</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Server Actions: 'use server' boundary, type-safe mutations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Middleware runs on every request — better-auth getSessionCookie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fetch caching: { cache: 'force-cache', next: { revalidate } }</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revalidatePath('/portfolio') after mutations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AbortSignal.timeout(5000) on every external fetch</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Route groups: (auth) public, (root) auth-gated by middleware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MongoDB Atlas + Mongoose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Replica-set-backed document database with Mongoose ODM</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Stores everything stateful: users (better-auth), portfolios, transactions, holdings, daily snapshots, watchlists, alerts, and scored news sentiment. The replica-set property is what enables atomic trade execution — without it, the Buy action could partially fail and silently lose money.</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Schema flexibility was critical during the build (alertCategory field added late with default backwards-compat, no migration needed). Atlas is a replica set by default → transactions just work. Mongoose gives schema validation, indexes, and lean() queries with minimal boilerplate.</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8 collections — 7 in DATABASE/models/ + better-auth's user collection</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Compound unique indexes for cron idempotency</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(userId, symbol) on holdings, watchlists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(userId, date) on portfoliosnapshots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(symbol, articleId) on newssentiments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mongoose.startSession().withTransaction() for atomic trades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Connection cache via global.mongooseCache (dev hot-reload safe)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family: 4 (force IPv4) to avoid intermittent DNS issues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lean() reads for performance, full docs for writes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BetterAuth</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Modern auth library with MongoDB adapter and session cookies</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Handles sign-up, sign-in, session management, and password reset. Session cookies are the source of truth for 'is this user logged in.' Triggers an Inngest event (app/user.created) on successful sign-up so the welcome email can be generated asynchronously.</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Modern (1.6.5), TypeScript-native, MongoDB adapter built-in. Cookie-based sessions instead of JWTs (simpler revocation, no JWT footguns). Customizable callbacks for password reset → email send. Less ceremony than NextAuth for our use case.</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MongoDB adapter — writes to user + session collections automatically</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Session cookie checked cheaply by middleware via getSessionCookie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User schema extended with: country, investmentGoals, riskTolerance, preferredIndustry</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Password hashing handled internally (bcrypt-style)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Forgot/reset password flow: token stored in DB, sent via Nodemailer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Triggers app/user.created Inngest event on signup → welcome AI email</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BETTER_AUTH_SECRET env var for cookie signing</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auth.api.getSession({ headers }) — server-side session check in actions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Inngest</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Durable function runtime for cron jobs and AI workflows</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Hosts every background job: welcome email, daily news summary, hourly price + sentiment alert checks, daily portfolio snapshots, daily news sentiment scoring, weekly recap. Each function is a pipeline of retried, idempotent steps. step.ai is a first-class durable AI primitive used by the cron-based AI workflows.</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Durable cron + AI workflows without standing up Redis or BullMQ. step.ai integrates Gemini as a retried step. Local dev UI shows traces of every run — invaluable for debugging idempotency. Free tier is generous for a PFA.</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7 functions registered at app/api/inngest/route.ts via serve()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Triggers: cron strings (0 13 * * *) + custom events (app/check.alerts)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step.run('label', async () =&gt; ...) — retried on failure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step.ai.gemini for AI inference inside steps — also retried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Idempotency layered: pre-check existing IDs + DB unique indexes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Cross-user dedupe (one Finnhub call per symbol, not per user)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step.ai.infer with structured prompts → guaranteed JSON via responseSchema</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Local dev: npx inngest-cli@latest dev → http://localhost:8288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Finnhub API</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Free-tier market data: quotes, profiles, company news, search</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Source of all real-time and reference market data. Powers live quotes shown in trade modals, portfolio P&amp;L math, sector allocation (via /profile2 finnhubIndustry), the news sentiment pipeline (via /company-news), and global stock search (via /search). 60 req/min on free tier means we have to be careful about call patterns.</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Free tier covers everything we need (quotes, news, profile, search). Reasonable rate limits. JSON responses with predictable shapes. No vendor lock-in — could swap for Yahoo Finance with one helper file.</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Endpoints used: /quote, /search, /stock/profile2, /company-news, /news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Caching strategy:</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/profile2 cached 24h (sector data is essentially static)</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/search cached 30 min, popular stocks 1h</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/quote no-cache (real-time)</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AbortSignal.timeout(5000) wraps every fetch — clear timeout messages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Cross-user symbol dedupe in every cron — N-fold reduction in calls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Promise.allSettled in chatbot — one failed call ≠ failed answer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Per-symbol catches downgrade to console.warn (no stack noise)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deep-dive — Google Gemini</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Generative AI with structured-output schema enforcement</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5486400" cy="4434840"/>
          </a:xfrm>
          <a:prstGeom prst="roundRect">
            <a:avLst>
              <a:gd name="adj" fmla="val 1649"/>
            </a:avLst>
          </a:prstGeom>
          <a:solidFill>
            <a:srgbClr val="141414"/>
          </a:solidFill>
          <a:ln w="12700">
            <a:solidFill>
              <a:srgbClr val="30333A"/>
            </a:solidFill>
            <a:prstDash val="solid"/>
          </a:ln>
        </p:spPr>
      </p:sp>
      <p:sp>
        <p:nvSpPr>
          <p:cNvPr id="8" name="Text 6"/>
          <p:cNvSpPr/>
          <p:nvPr/>
        </p:nvSpPr>
        <p:spPr>
          <a:xfrm>
            <a:off x="731520" y="1874520"/>
            <a:ext cx="5120640" cy="320040"/>
          </a:xfrm>
          <a:prstGeom prst="rect">
            <a:avLst/>
          </a:prstGeom>
          <a:noFill/>
          <a:ln/>
        </p:spPr>
        <p:txBody>
          <a:bodyPr wrap="square" rtlCol="0" anchor="ctr"/>
          <a:lstStyle/>
          <a:p>
            <a:pPr indent="0" marL="0">
              <a:buNone/>
            </a:pPr>
            <a:r>
              <a:rPr lang="en-US" sz="1100" b="1" spc="200" kern="0" dirty="0">
                <a:solidFill>
                  <a:srgbClr val="FDD458"/>
                </a:solidFill>
                <a:latin typeface="Calibri" pitchFamily="34" charset="0"/>
                <a:ea typeface="Calibri" pitchFamily="34" charset="-122"/>
                <a:cs typeface="Calibri" pitchFamily="34" charset="-120"/>
              </a:rPr>
              <a:t>ROLE IN WEALTHFLOW</a:t>
            </a:r>
            <a:endParaRPr lang="en-US" sz="1100" dirty="0"/>
          </a:p>
        </p:txBody>
      </p:sp>
      <p:sp>
        <p:nvSpPr>
          <p:cNvPr id="9" name="Shape 7"/>
          <p:cNvSpPr/>
          <p:nvPr/>
        </p:nvSpPr>
        <p:spPr>
          <a:xfrm>
            <a:off x="731520" y="2167128"/>
            <a:ext cx="365760" cy="0"/>
          </a:xfrm>
          <a:prstGeom prst="line">
            <a:avLst/>
          </a:prstGeom>
          <a:noFill/>
          <a:ln w="19050">
            <a:solidFill>
              <a:srgbClr val="FDD458"/>
            </a:solidFill>
            <a:prstDash val="solid"/>
          </a:ln>
        </p:spPr>
      </p:sp>
      <p:sp>
        <p:nvSpPr>
          <p:cNvPr id="10" name="Text 8"/>
          <p:cNvSpPr/>
          <p:nvPr/>
        </p:nvSpPr>
        <p:spPr>
          <a:xfrm>
            <a:off x="731520" y="233172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Powers every AI feature. Personalizes the welcome email and weekly recap (recap commentary tied to user's risk profile). Summarizes daily news per user. Answers per-stock questions in the chatbot grounded in live quote + recent news. Scores news articles for sentiment in [-1, 1] with strict JSON schema.</a:t>
            </a:r>
            <a:endParaRPr lang="en-US" sz="1200" dirty="0"/>
          </a:p>
        </p:txBody>
      </p:sp>
      <p:sp>
        <p:nvSpPr>
          <p:cNvPr id="11" name="Text 9"/>
          <p:cNvSpPr/>
          <p:nvPr/>
        </p:nvSpPr>
        <p:spPr>
          <a:xfrm>
            <a:off x="731520" y="4023360"/>
            <a:ext cx="5120640" cy="320040"/>
          </a:xfrm>
          <a:prstGeom prst="rect">
            <a:avLst/>
          </a:prstGeom>
          <a:noFill/>
          <a:ln/>
        </p:spPr>
        <p:txBody>
          <a:bodyPr wrap="square" rtlCol="0" anchor="ctr"/>
          <a:lstStyle/>
          <a:p>
            <a:pPr indent="0" marL="0">
              <a:buNone/>
            </a:pPr>
            <a:r>
              <a:rPr lang="en-US" sz="1100" b="1" spc="200" kern="0" dirty="0">
                <a:solidFill>
                  <a:srgbClr val="0FEDBE"/>
                </a:solidFill>
                <a:latin typeface="Calibri" pitchFamily="34" charset="0"/>
                <a:ea typeface="Calibri" pitchFamily="34" charset="-122"/>
                <a:cs typeface="Calibri" pitchFamily="34" charset="-120"/>
              </a:rPr>
              <a:t>WHY WE CHOSE IT</a:t>
            </a:r>
            <a:endParaRPr lang="en-US" sz="1100" dirty="0"/>
          </a:p>
        </p:txBody>
      </p:sp>
      <p:sp>
        <p:nvSpPr>
          <p:cNvPr id="12" name="Shape 10"/>
          <p:cNvSpPr/>
          <p:nvPr/>
        </p:nvSpPr>
        <p:spPr>
          <a:xfrm>
            <a:off x="731520" y="4315968"/>
            <a:ext cx="365760" cy="0"/>
          </a:xfrm>
          <a:prstGeom prst="line">
            <a:avLst/>
          </a:prstGeom>
          <a:noFill/>
          <a:ln w="19050">
            <a:solidFill>
              <a:srgbClr val="0FEDBE"/>
            </a:solidFill>
            <a:prstDash val="solid"/>
          </a:ln>
        </p:spPr>
      </p:sp>
      <p:sp>
        <p:nvSpPr>
          <p:cNvPr id="13" name="Text 11"/>
          <p:cNvSpPr/>
          <p:nvPr/>
        </p:nvSpPr>
        <p:spPr>
          <a:xfrm>
            <a:off x="731520" y="4480560"/>
            <a:ext cx="5120640" cy="1554480"/>
          </a:xfrm>
          <a:prstGeom prst="rect">
            <a:avLst/>
          </a:prstGeom>
          <a:noFill/>
          <a:ln/>
        </p:spPr>
        <p:txBody>
          <a:bodyPr wrap="square" rtlCol="0" anchor="ctr"/>
          <a:lstStyle/>
          <a:p>
            <a:pPr indent="0" marL="0">
              <a:spcAft>
                <a:spcPts val="400"/>
              </a:spcAft>
              <a:buNone/>
            </a:pPr>
            <a:r>
              <a:rPr lang="en-US" sz="1200" dirty="0">
                <a:solidFill>
                  <a:srgbClr val="CCDADC"/>
                </a:solidFill>
                <a:latin typeface="Calibri" pitchFamily="34" charset="0"/>
                <a:ea typeface="Calibri" pitchFamily="34" charset="-122"/>
                <a:cs typeface="Calibri" pitchFamily="34" charset="-120"/>
              </a:rPr>
              <a:t>Generous free tier vs OpenAI. Strong instruction-following. Native responseSchema for structured output (no prompt-and-pray JSON parsing). gemini-3-flash-preview is fast enough for the chatbot use case.</a:t>
            </a:r>
            <a:endParaRPr lang="en-US" sz="1200" dirty="0"/>
          </a:p>
        </p:txBody>
      </p:sp>
      <p:sp>
        <p:nvSpPr>
          <p:cNvPr id="14" name="Shape 12"/>
          <p:cNvSpPr/>
          <p:nvPr/>
        </p:nvSpPr>
        <p:spPr>
          <a:xfrm>
            <a:off x="6217920" y="1691640"/>
            <a:ext cx="5422392" cy="4434840"/>
          </a:xfrm>
          <a:prstGeom prst="roundRect">
            <a:avLst>
              <a:gd name="adj" fmla="val 1649"/>
            </a:avLst>
          </a:prstGeom>
          <a:solidFill>
            <a:srgbClr val="141414"/>
          </a:solidFill>
          <a:ln w="12700">
            <a:solidFill>
              <a:srgbClr val="30333A"/>
            </a:solidFill>
            <a:prstDash val="solid"/>
          </a:ln>
        </p:spPr>
      </p:sp>
      <p:sp>
        <p:nvSpPr>
          <p:cNvPr id="15" name="Text 13"/>
          <p:cNvSpPr/>
          <p:nvPr/>
        </p:nvSpPr>
        <p:spPr>
          <a:xfrm>
            <a:off x="6400800" y="1874520"/>
            <a:ext cx="5029200" cy="320040"/>
          </a:xfrm>
          <a:prstGeom prst="rect">
            <a:avLst/>
          </a:prstGeom>
          <a:noFill/>
          <a:ln/>
        </p:spPr>
        <p:txBody>
          <a:bodyPr wrap="square" rtlCol="0" anchor="ctr"/>
          <a:lstStyle/>
          <a:p>
            <a:pPr indent="0" marL="0">
              <a:buNone/>
            </a:pPr>
            <a:r>
              <a:rPr lang="en-US" sz="1100" b="1" spc="200" kern="0" dirty="0">
                <a:solidFill>
                  <a:srgbClr val="D13BFF"/>
                </a:solidFill>
                <a:latin typeface="Calibri" pitchFamily="34" charset="0"/>
                <a:ea typeface="Calibri" pitchFamily="34" charset="-122"/>
                <a:cs typeface="Calibri" pitchFamily="34" charset="-120"/>
              </a:rPr>
              <a:t>TECHNICAL DETAILS</a:t>
            </a:r>
            <a:endParaRPr lang="en-US" sz="1100" dirty="0"/>
          </a:p>
        </p:txBody>
      </p:sp>
      <p:sp>
        <p:nvSpPr>
          <p:cNvPr id="16" name="Shape 14"/>
          <p:cNvSpPr/>
          <p:nvPr/>
        </p:nvSpPr>
        <p:spPr>
          <a:xfrm>
            <a:off x="6400800" y="2167128"/>
            <a:ext cx="365760" cy="0"/>
          </a:xfrm>
          <a:prstGeom prst="line">
            <a:avLst/>
          </a:prstGeom>
          <a:noFill/>
          <a:ln w="19050">
            <a:solidFill>
              <a:srgbClr val="D13BFF"/>
            </a:solidFill>
            <a:prstDash val="solid"/>
          </a:ln>
        </p:spPr>
      </p:sp>
      <p:sp>
        <p:nvSpPr>
          <p:cNvPr id="17" name="Text 15"/>
          <p:cNvSpPr/>
          <p:nvPr/>
        </p:nvSpPr>
        <p:spPr>
          <a:xfrm>
            <a:off x="6400800" y="2331720"/>
            <a:ext cx="5120640" cy="3657600"/>
          </a:xfrm>
          <a:prstGeom prst="rect">
            <a:avLst/>
          </a:prstGeom>
          <a:noFill/>
          <a:ln/>
        </p:spPr>
        <p:txBody>
          <a:bodyPr wrap="square" rtlCol="0" anchor="ctr"/>
          <a:lstStyle/>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Model: gemini-3-flash-preview (fast inference, cheap)</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Two integration paths used together:</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lib/ai/gemini.ts → direct REST (chatbot — request-scoped)</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step.ai.gemini → Inngest (cron — durable retries)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responseSchema: JSON Schema enforced server-side by Gemini</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  · sentiment scorer returns { scores: [{articleId, sentiment, label, confidence}] }</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System prompts ban personalized buy/sell recommendations</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Chatbot temperature 0.4 (research-grounded), recap 0.7 (creative-ish)</a:t>
            </a:r>
            <a:endParaRPr lang="en-US" sz="1100" dirty="0"/>
          </a:p>
          <a:p>
            <a:pPr marL="342900" indent="-342900">
              <a:spcAft>
                <a:spcPts val="400"/>
              </a:spcAft>
              <a:buSzPct val="100000"/>
              <a:buChar char="●"/>
            </a:pPr>
            <a:r>
              <a:rPr lang="en-US" sz="1100" dirty="0">
                <a:solidFill>
                  <a:srgbClr val="CCDADC"/>
                </a:solidFill>
                <a:latin typeface="Calibri" pitchFamily="34" charset="0"/>
                <a:ea typeface="Calibri" pitchFamily="34" charset="-122"/>
                <a:cs typeface="Calibri" pitchFamily="34" charset="-120"/>
              </a:rPr>
              <a:t>AbortSignal.timeout(25-30s) — long enough but bounded</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Architecture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How the pieces talk to each other</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731520" y="1645920"/>
            <a:ext cx="7772400" cy="4572000"/>
          </a:xfrm>
          <a:prstGeom prst="rect">
            <a:avLst/>
          </a:prstGeom>
          <a:solidFill>
            <a:srgbClr val="141414"/>
          </a:solidFill>
          <a:ln w="12700">
            <a:solidFill>
              <a:srgbClr val="30333A"/>
            </a:solidFill>
            <a:prstDash val="dash"/>
          </a:ln>
        </p:spPr>
      </p:sp>
      <p:sp>
        <p:nvSpPr>
          <p:cNvPr id="8" name="Text 6"/>
          <p:cNvSpPr/>
          <p:nvPr/>
        </p:nvSpPr>
        <p:spPr>
          <a:xfrm>
            <a:off x="731520" y="1645920"/>
            <a:ext cx="7772400" cy="457200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System diagram (flowchart TD)</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9" name="Text 7"/>
          <p:cNvSpPr/>
          <p:nvPr/>
        </p:nvSpPr>
        <p:spPr>
          <a:xfrm>
            <a:off x="8778240" y="1645920"/>
            <a:ext cx="292608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Read left → right:</a:t>
            </a:r>
            <a:endParaRPr lang="en-US" sz="1400" dirty="0"/>
          </a:p>
        </p:txBody>
      </p:sp>
      <p:sp>
        <p:nvSpPr>
          <p:cNvPr id="10" name="Text 8"/>
          <p:cNvSpPr/>
          <p:nvPr/>
        </p:nvSpPr>
        <p:spPr>
          <a:xfrm>
            <a:off x="8778240" y="210312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Browser only renders.</a:t>
            </a:r>
            <a:endParaRPr lang="en-US" sz="1100" dirty="0"/>
          </a:p>
        </p:txBody>
      </p:sp>
      <p:sp>
        <p:nvSpPr>
          <p:cNvPr id="11" name="Text 9"/>
          <p:cNvSpPr/>
          <p:nvPr/>
        </p:nvSpPr>
        <p:spPr>
          <a:xfrm>
            <a:off x="8778240" y="274320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Next.js does the work — pages, server actions, middleware.</a:t>
            </a:r>
            <a:endParaRPr lang="en-US" sz="1100" dirty="0"/>
          </a:p>
        </p:txBody>
      </p:sp>
      <p:sp>
        <p:nvSpPr>
          <p:cNvPr id="12" name="Text 10"/>
          <p:cNvSpPr/>
          <p:nvPr/>
        </p:nvSpPr>
        <p:spPr>
          <a:xfrm>
            <a:off x="8778240" y="338328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Inngest hosts background jobs.</a:t>
            </a:r>
            <a:endParaRPr lang="en-US" sz="1100" dirty="0"/>
          </a:p>
        </p:txBody>
      </p:sp>
      <p:sp>
        <p:nvSpPr>
          <p:cNvPr id="13" name="Text 11"/>
          <p:cNvSpPr/>
          <p:nvPr/>
        </p:nvSpPr>
        <p:spPr>
          <a:xfrm>
            <a:off x="8778240" y="402336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MongoDB is our state.</a:t>
            </a:r>
            <a:endParaRPr lang="en-US" sz="1100" dirty="0"/>
          </a:p>
        </p:txBody>
      </p:sp>
      <p:sp>
        <p:nvSpPr>
          <p:cNvPr id="14" name="Text 12"/>
          <p:cNvSpPr/>
          <p:nvPr/>
        </p:nvSpPr>
        <p:spPr>
          <a:xfrm>
            <a:off x="8778240" y="466344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Gemini + Finnhub: external dependencies.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 model</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Seven collections — five per-user, one shared (NewsSentiment)</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731520" y="1645920"/>
            <a:ext cx="7772400" cy="4572000"/>
          </a:xfrm>
          <a:prstGeom prst="rect">
            <a:avLst/>
          </a:prstGeom>
          <a:solidFill>
            <a:srgbClr val="141414"/>
          </a:solidFill>
          <a:ln w="12700">
            <a:solidFill>
              <a:srgbClr val="30333A"/>
            </a:solidFill>
            <a:prstDash val="dash"/>
          </a:ln>
        </p:spPr>
      </p:sp>
      <p:sp>
        <p:nvSpPr>
          <p:cNvPr id="8" name="Text 6"/>
          <p:cNvSpPr/>
          <p:nvPr/>
        </p:nvSpPr>
        <p:spPr>
          <a:xfrm>
            <a:off x="731520" y="1645920"/>
            <a:ext cx="7772400" cy="457200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ER diagram</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9" name="Text 7"/>
          <p:cNvSpPr/>
          <p:nvPr/>
        </p:nvSpPr>
        <p:spPr>
          <a:xfrm>
            <a:off x="8778240" y="1645920"/>
            <a:ext cx="292608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Highlights:</a:t>
            </a:r>
            <a:endParaRPr lang="en-US" sz="1400" dirty="0"/>
          </a:p>
        </p:txBody>
      </p:sp>
      <p:sp>
        <p:nvSpPr>
          <p:cNvPr id="10" name="Text 8"/>
          <p:cNvSpPr/>
          <p:nvPr/>
        </p:nvSpPr>
        <p:spPr>
          <a:xfrm>
            <a:off x="8778240" y="210312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5 collections per-user.</a:t>
            </a:r>
            <a:endParaRPr lang="en-US" sz="1100" dirty="0"/>
          </a:p>
        </p:txBody>
      </p:sp>
      <p:sp>
        <p:nvSpPr>
          <p:cNvPr id="11" name="Text 9"/>
          <p:cNvSpPr/>
          <p:nvPr/>
        </p:nvSpPr>
        <p:spPr>
          <a:xfrm>
            <a:off x="8778240" y="274320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NewsSentiment is shared — score AAPL once for everyone.</a:t>
            </a:r>
            <a:endParaRPr lang="en-US" sz="1100" dirty="0"/>
          </a:p>
        </p:txBody>
      </p:sp>
      <p:sp>
        <p:nvSpPr>
          <p:cNvPr id="12" name="Text 10"/>
          <p:cNvSpPr/>
          <p:nvPr/>
        </p:nvSpPr>
        <p:spPr>
          <a:xfrm>
            <a:off x="8778240" y="338328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PortfolioSnapshot powers the equity curve.</a:t>
            </a:r>
            <a:endParaRPr lang="en-US" sz="1100" dirty="0"/>
          </a:p>
        </p:txBody>
      </p:sp>
      <p:sp>
        <p:nvSpPr>
          <p:cNvPr id="13" name="Text 11"/>
          <p:cNvSpPr/>
          <p:nvPr/>
        </p:nvSpPr>
        <p:spPr>
          <a:xfrm>
            <a:off x="8778240" y="4023360"/>
            <a:ext cx="2926080" cy="548640"/>
          </a:xfrm>
          <a:prstGeom prst="rect">
            <a:avLst/>
          </a:prstGeom>
          <a:noFill/>
          <a:ln/>
        </p:spPr>
        <p:txBody>
          <a:bodyPr wrap="square" rtlCol="0" anchor="ctr"/>
          <a:lstStyle/>
          <a:p>
            <a:pPr indent="0" marL="0">
              <a:buNone/>
            </a:pPr>
            <a:r>
              <a:rPr lang="en-US" sz="1100" dirty="0">
                <a:solidFill>
                  <a:srgbClr val="CCDADC"/>
                </a:solidFill>
                <a:latin typeface="Calibri" pitchFamily="34" charset="0"/>
                <a:ea typeface="Calibri" pitchFamily="34" charset="-122"/>
                <a:cs typeface="Calibri" pitchFamily="34" charset="-120"/>
              </a:rPr>
              <a:t>• Unique compound indexes enforce cron idempotency.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Pipeline 1 · Trade execution (atomic)</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463040"/>
            <a:ext cx="6858000" cy="4754880"/>
          </a:xfrm>
          <a:prstGeom prst="rect">
            <a:avLst/>
          </a:prstGeom>
          <a:solidFill>
            <a:srgbClr val="141414"/>
          </a:solidFill>
          <a:ln w="12700">
            <a:solidFill>
              <a:srgbClr val="30333A"/>
            </a:solidFill>
            <a:prstDash val="dash"/>
          </a:ln>
        </p:spPr>
      </p:sp>
      <p:sp>
        <p:nvSpPr>
          <p:cNvPr id="7" name="Text 5"/>
          <p:cNvSpPr/>
          <p:nvPr/>
        </p:nvSpPr>
        <p:spPr>
          <a:xfrm>
            <a:off x="548640" y="1463040"/>
            <a:ext cx="6858000" cy="475488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Trade execution sequence</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8" name="Text 6"/>
          <p:cNvSpPr/>
          <p:nvPr/>
        </p:nvSpPr>
        <p:spPr>
          <a:xfrm>
            <a:off x="7680960" y="1463040"/>
            <a:ext cx="402336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Key points</a:t>
            </a:r>
            <a:endParaRPr lang="en-US" sz="1400" dirty="0"/>
          </a:p>
        </p:txBody>
      </p:sp>
      <p:sp>
        <p:nvSpPr>
          <p:cNvPr id="9" name="Text 7"/>
          <p:cNvSpPr/>
          <p:nvPr/>
        </p:nvSpPr>
        <p:spPr>
          <a:xfrm>
            <a:off x="7680960" y="192024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User clicks Buy → server action fetches live price.</a:t>
            </a:r>
            <a:endParaRPr lang="en-US" sz="1200" dirty="0"/>
          </a:p>
        </p:txBody>
      </p:sp>
      <p:sp>
        <p:nvSpPr>
          <p:cNvPr id="10" name="Text 8"/>
          <p:cNvSpPr/>
          <p:nvPr/>
        </p:nvSpPr>
        <p:spPr>
          <a:xfrm>
            <a:off x="7680960" y="269748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Three writes in a single MongoDB transaction:</a:t>
            </a:r>
            <a:endParaRPr lang="en-US" sz="1200" dirty="0"/>
          </a:p>
        </p:txBody>
      </p:sp>
      <p:sp>
        <p:nvSpPr>
          <p:cNvPr id="11" name="Text 9"/>
          <p:cNvSpPr/>
          <p:nvPr/>
        </p:nvSpPr>
        <p:spPr>
          <a:xfrm>
            <a:off x="7680960" y="347472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 debit cash · upsert holding · log transaction</a:t>
            </a:r>
            <a:endParaRPr lang="en-US" sz="1200" dirty="0"/>
          </a:p>
        </p:txBody>
      </p:sp>
      <p:sp>
        <p:nvSpPr>
          <p:cNvPr id="12" name="Text 10"/>
          <p:cNvSpPr/>
          <p:nvPr/>
        </p:nvSpPr>
        <p:spPr>
          <a:xfrm>
            <a:off x="7680960" y="425196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Weighted-average cost basis on second buy.</a:t>
            </a:r>
            <a:endParaRPr lang="en-US" sz="1200" dirty="0"/>
          </a:p>
        </p:txBody>
      </p:sp>
      <p:sp>
        <p:nvSpPr>
          <p:cNvPr id="13" name="Text 11"/>
          <p:cNvSpPr/>
          <p:nvPr/>
        </p:nvSpPr>
        <p:spPr>
          <a:xfrm>
            <a:off x="7680960" y="502920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All-or-nothing — paper trading can't lose money.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Pipeline 2 · News sentiment (daily AI cron)</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463040"/>
            <a:ext cx="6858000" cy="4754880"/>
          </a:xfrm>
          <a:prstGeom prst="rect">
            <a:avLst/>
          </a:prstGeom>
          <a:solidFill>
            <a:srgbClr val="141414"/>
          </a:solidFill>
          <a:ln w="12700">
            <a:solidFill>
              <a:srgbClr val="30333A"/>
            </a:solidFill>
            <a:prstDash val="dash"/>
          </a:ln>
        </p:spPr>
      </p:sp>
      <p:sp>
        <p:nvSpPr>
          <p:cNvPr id="7" name="Text 5"/>
          <p:cNvSpPr/>
          <p:nvPr/>
        </p:nvSpPr>
        <p:spPr>
          <a:xfrm>
            <a:off x="548640" y="1463040"/>
            <a:ext cx="6858000" cy="475488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Sentiment scoring sequence</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8" name="Text 6"/>
          <p:cNvSpPr/>
          <p:nvPr/>
        </p:nvSpPr>
        <p:spPr>
          <a:xfrm>
            <a:off x="7680960" y="1463040"/>
            <a:ext cx="402336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Key points</a:t>
            </a:r>
            <a:endParaRPr lang="en-US" sz="1400" dirty="0"/>
          </a:p>
        </p:txBody>
      </p:sp>
      <p:sp>
        <p:nvSpPr>
          <p:cNvPr id="9" name="Text 7"/>
          <p:cNvSpPr/>
          <p:nvPr/>
        </p:nvSpPr>
        <p:spPr>
          <a:xfrm>
            <a:off x="7680960" y="192024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Daily 13:00 UTC. Inngest collects every watched + held symbol.</a:t>
            </a:r>
            <a:endParaRPr lang="en-US" sz="1200" dirty="0"/>
          </a:p>
        </p:txBody>
      </p:sp>
      <p:sp>
        <p:nvSpPr>
          <p:cNvPr id="10" name="Text 8"/>
          <p:cNvSpPr/>
          <p:nvPr/>
        </p:nvSpPr>
        <p:spPr>
          <a:xfrm>
            <a:off x="7680960" y="269748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Dedupe across users → one Finnhub call per symbol.</a:t>
            </a:r>
            <a:endParaRPr lang="en-US" sz="1200" dirty="0"/>
          </a:p>
        </p:txBody>
      </p:sp>
      <p:sp>
        <p:nvSpPr>
          <p:cNvPr id="11" name="Text 9"/>
          <p:cNvSpPr/>
          <p:nvPr/>
        </p:nvSpPr>
        <p:spPr>
          <a:xfrm>
            <a:off x="7680960" y="347472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Gemini scores each article in [-1, +1] with responseSchema.</a:t>
            </a:r>
            <a:endParaRPr lang="en-US" sz="1200" dirty="0"/>
          </a:p>
        </p:txBody>
      </p:sp>
      <p:sp>
        <p:nvSpPr>
          <p:cNvPr id="12" name="Text 10"/>
          <p:cNvSpPr/>
          <p:nvPr/>
        </p:nvSpPr>
        <p:spPr>
          <a:xfrm>
            <a:off x="7680960" y="425196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Idempotency layered twice — pre-check + unique index.</a:t>
            </a:r>
            <a:endParaRPr lang="en-US" sz="1200" dirty="0"/>
          </a:p>
        </p:txBody>
      </p:sp>
      <p:sp>
        <p:nvSpPr>
          <p:cNvPr id="13" name="Text 11"/>
          <p:cNvSpPr/>
          <p:nvPr/>
        </p:nvSpPr>
        <p:spPr>
          <a:xfrm>
            <a:off x="7680960" y="502920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Powers the timeline chart and sentiment alerts.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Pipeline 3 · Weekly AI recap</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463040"/>
            <a:ext cx="6858000" cy="4754880"/>
          </a:xfrm>
          <a:prstGeom prst="rect">
            <a:avLst/>
          </a:prstGeom>
          <a:solidFill>
            <a:srgbClr val="141414"/>
          </a:solidFill>
          <a:ln w="12700">
            <a:solidFill>
              <a:srgbClr val="30333A"/>
            </a:solidFill>
            <a:prstDash val="dash"/>
          </a:ln>
        </p:spPr>
      </p:sp>
      <p:sp>
        <p:nvSpPr>
          <p:cNvPr id="7" name="Text 5"/>
          <p:cNvSpPr/>
          <p:nvPr/>
        </p:nvSpPr>
        <p:spPr>
          <a:xfrm>
            <a:off x="548640" y="1463040"/>
            <a:ext cx="6858000" cy="475488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Weekly recap workflow</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8" name="Text 6"/>
          <p:cNvSpPr/>
          <p:nvPr/>
        </p:nvSpPr>
        <p:spPr>
          <a:xfrm>
            <a:off x="7680960" y="1463040"/>
            <a:ext cx="402336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Key points</a:t>
            </a:r>
            <a:endParaRPr lang="en-US" sz="1400" dirty="0"/>
          </a:p>
        </p:txBody>
      </p:sp>
      <p:sp>
        <p:nvSpPr>
          <p:cNvPr id="9" name="Text 7"/>
          <p:cNvSpPr/>
          <p:nvPr/>
        </p:nvSpPr>
        <p:spPr>
          <a:xfrm>
            <a:off x="7680960" y="192024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Mondays 14:00 UTC. Per-user personalized email.</a:t>
            </a:r>
            <a:endParaRPr lang="en-US" sz="1200" dirty="0"/>
          </a:p>
        </p:txBody>
      </p:sp>
      <p:sp>
        <p:nvSpPr>
          <p:cNvPr id="10" name="Text 8"/>
          <p:cNvSpPr/>
          <p:nvPr/>
        </p:nvSpPr>
        <p:spPr>
          <a:xfrm>
            <a:off x="7680960" y="269748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Context: portfolio week-over-week + watchlist + risk profile.</a:t>
            </a:r>
            <a:endParaRPr lang="en-US" sz="1200" dirty="0"/>
          </a:p>
        </p:txBody>
      </p:sp>
      <p:sp>
        <p:nvSpPr>
          <p:cNvPr id="11" name="Text 9"/>
          <p:cNvSpPr/>
          <p:nvPr/>
        </p:nvSpPr>
        <p:spPr>
          <a:xfrm>
            <a:off x="7680960" y="347472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Sent to Gemini via step.ai (durable retries).</a:t>
            </a:r>
            <a:endParaRPr lang="en-US" sz="1200" dirty="0"/>
          </a:p>
        </p:txBody>
      </p:sp>
      <p:sp>
        <p:nvSpPr>
          <p:cNvPr id="12" name="Text 10"/>
          <p:cNvSpPr/>
          <p:nvPr/>
        </p:nvSpPr>
        <p:spPr>
          <a:xfrm>
            <a:off x="7680960" y="425196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Prompt forbids invented numbers and buy/sell advice.</a:t>
            </a:r>
            <a:endParaRPr lang="en-US" sz="1200" dirty="0"/>
          </a:p>
        </p:txBody>
      </p:sp>
      <p:sp>
        <p:nvSpPr>
          <p:cNvPr id="13" name="Text 11"/>
          <p:cNvSpPr/>
          <p:nvPr/>
        </p:nvSpPr>
        <p:spPr>
          <a:xfrm>
            <a:off x="7680960" y="502920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Per-user error isolation — one bad user ≠ stop all.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Pipeline 4 · Stock chatbot grounding</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548640" y="1463040"/>
            <a:ext cx="6858000" cy="4754880"/>
          </a:xfrm>
          <a:prstGeom prst="rect">
            <a:avLst/>
          </a:prstGeom>
          <a:solidFill>
            <a:srgbClr val="141414"/>
          </a:solidFill>
          <a:ln w="12700">
            <a:solidFill>
              <a:srgbClr val="30333A"/>
            </a:solidFill>
            <a:prstDash val="dash"/>
          </a:ln>
        </p:spPr>
      </p:sp>
      <p:sp>
        <p:nvSpPr>
          <p:cNvPr id="7" name="Text 5"/>
          <p:cNvSpPr/>
          <p:nvPr/>
        </p:nvSpPr>
        <p:spPr>
          <a:xfrm>
            <a:off x="548640" y="1463040"/>
            <a:ext cx="6858000" cy="4754880"/>
          </a:xfrm>
          <a:prstGeom prst="rect">
            <a:avLst/>
          </a:prstGeom>
          <a:noFill/>
          <a:ln/>
        </p:spPr>
        <p:txBody>
          <a:bodyPr wrap="square" rtlCol="0" anchor="ctr"/>
          <a:lstStyle/>
          <a:p>
            <a:pPr algn="ctr" indent="0" marL="0">
              <a:buNone/>
            </a:pPr>
            <a:r>
              <a:rPr lang="en-US" sz="1300" i="1" dirty="0">
                <a:solidFill>
                  <a:srgbClr val="9095A1"/>
                </a:solidFill>
                <a:latin typeface="Calibri" pitchFamily="34" charset="0"/>
                <a:ea typeface="Calibri" pitchFamily="34" charset="-122"/>
                <a:cs typeface="Calibri" pitchFamily="34" charset="-120"/>
              </a:rPr>
              <a:t>📊 Chatbot RAG flow</a:t>
            </a:r>
            <a:endParaRPr lang="en-US" sz="1300" dirty="0"/>
          </a:p>
          <a:p>
            <a:pPr algn="ctr" indent="0" marL="0">
              <a:buNone/>
            </a:pP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Replace this box with a screenshot of the</a:t>
            </a:r>
            <a:endParaRPr lang="en-US" sz="1300" dirty="0"/>
          </a:p>
          <a:p>
            <a:pPr algn="ctr" indent="0" marL="0">
              <a:buNone/>
            </a:pPr>
            <a:r>
              <a:rPr lang="en-US" sz="1300" i="1" dirty="0">
                <a:solidFill>
                  <a:srgbClr val="9095A1"/>
                </a:solidFill>
                <a:latin typeface="Calibri" pitchFamily="34" charset="0"/>
                <a:ea typeface="Calibri" pitchFamily="34" charset="-122"/>
                <a:cs typeface="Calibri" pitchFamily="34" charset="-120"/>
              </a:rPr>
              <a:t>Mermaid diagram from mermaid.live</a:t>
            </a:r>
            <a:endParaRPr lang="en-US" sz="1300" dirty="0"/>
          </a:p>
        </p:txBody>
      </p:sp>
      <p:sp>
        <p:nvSpPr>
          <p:cNvPr id="8" name="Text 6"/>
          <p:cNvSpPr/>
          <p:nvPr/>
        </p:nvSpPr>
        <p:spPr>
          <a:xfrm>
            <a:off x="7680960" y="1463040"/>
            <a:ext cx="4023360" cy="36576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Key points</a:t>
            </a:r>
            <a:endParaRPr lang="en-US" sz="1400" dirty="0"/>
          </a:p>
        </p:txBody>
      </p:sp>
      <p:sp>
        <p:nvSpPr>
          <p:cNvPr id="9" name="Text 7"/>
          <p:cNvSpPr/>
          <p:nvPr/>
        </p:nvSpPr>
        <p:spPr>
          <a:xfrm>
            <a:off x="7680960" y="192024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Per-stock chat panel — mini-RAG pattern.</a:t>
            </a:r>
            <a:endParaRPr lang="en-US" sz="1200" dirty="0"/>
          </a:p>
        </p:txBody>
      </p:sp>
      <p:sp>
        <p:nvSpPr>
          <p:cNvPr id="10" name="Text 8"/>
          <p:cNvSpPr/>
          <p:nvPr/>
        </p:nvSpPr>
        <p:spPr>
          <a:xfrm>
            <a:off x="7680960" y="269748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Parallel context fetch via Promise.allSettled.</a:t>
            </a:r>
            <a:endParaRPr lang="en-US" sz="1200" dirty="0"/>
          </a:p>
        </p:txBody>
      </p:sp>
      <p:sp>
        <p:nvSpPr>
          <p:cNvPr id="11" name="Text 9"/>
          <p:cNvSpPr/>
          <p:nvPr/>
        </p:nvSpPr>
        <p:spPr>
          <a:xfrm>
            <a:off x="7680960" y="347472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Quote + profile + recent news → grounded system prompt.</a:t>
            </a:r>
            <a:endParaRPr lang="en-US" sz="1200" dirty="0"/>
          </a:p>
        </p:txBody>
      </p:sp>
      <p:sp>
        <p:nvSpPr>
          <p:cNvPr id="12" name="Text 10"/>
          <p:cNvSpPr/>
          <p:nvPr/>
        </p:nvSpPr>
        <p:spPr>
          <a:xfrm>
            <a:off x="7680960" y="425196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Direct REST to Gemini (not Inngest) — request-scoped latency.</a:t>
            </a:r>
            <a:endParaRPr lang="en-US" sz="1200" dirty="0"/>
          </a:p>
        </p:txBody>
      </p:sp>
      <p:sp>
        <p:nvSpPr>
          <p:cNvPr id="13" name="Text 11"/>
          <p:cNvSpPr/>
          <p:nvPr/>
        </p:nvSpPr>
        <p:spPr>
          <a:xfrm>
            <a:off x="7680960" y="5029200"/>
            <a:ext cx="402336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 System prompt bans personalized buy/sell recommendations.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718304" y="2286000"/>
            <a:ext cx="2743200" cy="91440"/>
          </a:xfrm>
          <a:prstGeom prst="rect">
            <a:avLst/>
          </a:prstGeom>
          <a:solidFill>
            <a:srgbClr val="FDD458"/>
          </a:solidFill>
          <a:ln/>
        </p:spPr>
      </p:sp>
      <p:sp>
        <p:nvSpPr>
          <p:cNvPr id="3" name="Text 1"/>
          <p:cNvSpPr/>
          <p:nvPr/>
        </p:nvSpPr>
        <p:spPr>
          <a:xfrm>
            <a:off x="914400" y="2468880"/>
            <a:ext cx="10360152" cy="1371600"/>
          </a:xfrm>
          <a:prstGeom prst="rect">
            <a:avLst/>
          </a:prstGeom>
          <a:noFill/>
          <a:ln/>
        </p:spPr>
        <p:txBody>
          <a:bodyPr wrap="square" rtlCol="0" anchor="ctr"/>
          <a:lstStyle/>
          <a:p>
            <a:pPr algn="ctr" indent="0" marL="0">
              <a:buNone/>
            </a:pPr>
            <a:r>
              <a:rPr lang="en-US" sz="8000" b="1" dirty="0">
                <a:solidFill>
                  <a:srgbClr val="FDD458"/>
                </a:solidFill>
                <a:latin typeface="Calibri" pitchFamily="34" charset="0"/>
                <a:ea typeface="Calibri" pitchFamily="34" charset="-122"/>
                <a:cs typeface="Calibri" pitchFamily="34" charset="-120"/>
              </a:rPr>
              <a:t>Live demo</a:t>
            </a:r>
            <a:endParaRPr lang="en-US" sz="8000" dirty="0"/>
          </a:p>
        </p:txBody>
      </p:sp>
      <p:sp>
        <p:nvSpPr>
          <p:cNvPr id="4" name="Text 2"/>
          <p:cNvSpPr/>
          <p:nvPr/>
        </p:nvSpPr>
        <p:spPr>
          <a:xfrm>
            <a:off x="914400" y="4023360"/>
            <a:ext cx="10360152" cy="640080"/>
          </a:xfrm>
          <a:prstGeom prst="rect">
            <a:avLst/>
          </a:prstGeom>
          <a:noFill/>
          <a:ln/>
        </p:spPr>
        <p:txBody>
          <a:bodyPr wrap="square" rtlCol="0" anchor="ctr"/>
          <a:lstStyle/>
          <a:p>
            <a:pPr algn="ctr" indent="0" marL="0">
              <a:buNone/>
            </a:pPr>
            <a:r>
              <a:rPr lang="en-US" sz="2600" dirty="0">
                <a:solidFill>
                  <a:srgbClr val="CCDADC"/>
                </a:solidFill>
                <a:latin typeface="Calibri" pitchFamily="34" charset="0"/>
                <a:ea typeface="Calibri" pitchFamily="34" charset="-122"/>
                <a:cs typeface="Calibri" pitchFamily="34" charset="-120"/>
              </a:rPr>
              <a:t>Switch to browser →</a:t>
            </a:r>
            <a:endParaRPr lang="en-US" sz="2600" dirty="0"/>
          </a:p>
        </p:txBody>
      </p:sp>
      <p:sp>
        <p:nvSpPr>
          <p:cNvPr id="5" name="Text 3"/>
          <p:cNvSpPr/>
          <p:nvPr/>
        </p:nvSpPr>
        <p:spPr>
          <a:xfrm>
            <a:off x="914400" y="4754880"/>
            <a:ext cx="10360152" cy="457200"/>
          </a:xfrm>
          <a:prstGeom prst="rect">
            <a:avLst/>
          </a:prstGeom>
          <a:noFill/>
          <a:ln/>
        </p:spPr>
        <p:txBody>
          <a:bodyPr wrap="square" rtlCol="0" anchor="ctr"/>
          <a:lstStyle/>
          <a:p>
            <a:pPr algn="ctr" indent="0" marL="0">
              <a:buNone/>
            </a:pPr>
            <a:r>
              <a:rPr lang="en-US" sz="1800" i="1" dirty="0">
                <a:solidFill>
                  <a:srgbClr val="9095A1"/>
                </a:solidFill>
                <a:latin typeface="Consolas" pitchFamily="34" charset="0"/>
                <a:ea typeface="Consolas" pitchFamily="34" charset="-122"/>
                <a:cs typeface="Consolas" pitchFamily="34" charset="-120"/>
              </a:rPr>
              <a:t>http://localhost:3000</a:t>
            </a:r>
            <a:endParaRPr lang="en-US" sz="1800" dirty="0"/>
          </a:p>
        </p:txBody>
      </p:sp>
      <p:sp>
        <p:nvSpPr>
          <p:cNvPr id="6" name="Text 4"/>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7" name="Text 5"/>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Originality vs. tutorial baseline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About 90% of committed lines are mine</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548640" y="1691640"/>
            <a:ext cx="11091672" cy="914400"/>
          </a:xfrm>
          <a:prstGeom prst="roundRect">
            <a:avLst>
              <a:gd name="adj" fmla="val 8000"/>
            </a:avLst>
          </a:prstGeom>
          <a:solidFill>
            <a:srgbClr val="141414"/>
          </a:solidFill>
          <a:ln w="12700">
            <a:solidFill>
              <a:srgbClr val="30333A"/>
            </a:solidFill>
            <a:prstDash val="solid"/>
          </a:ln>
        </p:spPr>
      </p:sp>
      <p:sp>
        <p:nvSpPr>
          <p:cNvPr id="8" name="Shape 6"/>
          <p:cNvSpPr/>
          <p:nvPr/>
        </p:nvSpPr>
        <p:spPr>
          <a:xfrm>
            <a:off x="548640" y="1691640"/>
            <a:ext cx="109728" cy="914400"/>
          </a:xfrm>
          <a:prstGeom prst="rect">
            <a:avLst/>
          </a:prstGeom>
          <a:solidFill>
            <a:srgbClr val="9095A1"/>
          </a:solidFill>
          <a:ln/>
        </p:spPr>
      </p:sp>
      <p:sp>
        <p:nvSpPr>
          <p:cNvPr id="9" name="Text 7"/>
          <p:cNvSpPr/>
          <p:nvPr/>
        </p:nvSpPr>
        <p:spPr>
          <a:xfrm>
            <a:off x="868680" y="1783080"/>
            <a:ext cx="3840480" cy="731520"/>
          </a:xfrm>
          <a:prstGeom prst="rect">
            <a:avLst/>
          </a:prstGeom>
          <a:noFill/>
          <a:ln/>
        </p:spPr>
        <p:txBody>
          <a:bodyPr wrap="square" rtlCol="0" anchor="ctr"/>
          <a:lstStyle/>
          <a:p>
            <a:pPr indent="0" marL="0">
              <a:buNone/>
            </a:pPr>
            <a:r>
              <a:rPr lang="en-US" sz="1400" b="1" dirty="0">
                <a:solidFill>
                  <a:srgbClr val="9095A1"/>
                </a:solidFill>
                <a:latin typeface="Calibri" pitchFamily="34" charset="0"/>
                <a:ea typeface="Calibri" pitchFamily="34" charset="-122"/>
                <a:cs typeface="Calibri" pitchFamily="34" charset="-120"/>
              </a:rPr>
              <a:t>Tutorial baseline (Sprints 1-7)</a:t>
            </a:r>
            <a:endParaRPr lang="en-US" sz="1400" dirty="0"/>
          </a:p>
        </p:txBody>
      </p:sp>
      <p:sp>
        <p:nvSpPr>
          <p:cNvPr id="10" name="Text 8"/>
          <p:cNvSpPr/>
          <p:nvPr/>
        </p:nvSpPr>
        <p:spPr>
          <a:xfrm>
            <a:off x="4800600" y="1783080"/>
            <a:ext cx="667512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Auth · watchlist · price alerts · daily news email · TradingView widgets</a:t>
            </a:r>
            <a:endParaRPr lang="en-US" sz="1200" dirty="0"/>
          </a:p>
        </p:txBody>
      </p:sp>
      <p:sp>
        <p:nvSpPr>
          <p:cNvPr id="11" name="Shape 9"/>
          <p:cNvSpPr/>
          <p:nvPr/>
        </p:nvSpPr>
        <p:spPr>
          <a:xfrm>
            <a:off x="548640" y="2743200"/>
            <a:ext cx="11091672" cy="914400"/>
          </a:xfrm>
          <a:prstGeom prst="roundRect">
            <a:avLst>
              <a:gd name="adj" fmla="val 8000"/>
            </a:avLst>
          </a:prstGeom>
          <a:solidFill>
            <a:srgbClr val="141414"/>
          </a:solidFill>
          <a:ln w="12700">
            <a:solidFill>
              <a:srgbClr val="30333A"/>
            </a:solidFill>
            <a:prstDash val="solid"/>
          </a:ln>
        </p:spPr>
      </p:sp>
      <p:sp>
        <p:nvSpPr>
          <p:cNvPr id="12" name="Shape 10"/>
          <p:cNvSpPr/>
          <p:nvPr/>
        </p:nvSpPr>
        <p:spPr>
          <a:xfrm>
            <a:off x="548640" y="2743200"/>
            <a:ext cx="109728" cy="914400"/>
          </a:xfrm>
          <a:prstGeom prst="rect">
            <a:avLst/>
          </a:prstGeom>
          <a:solidFill>
            <a:srgbClr val="FDD458"/>
          </a:solidFill>
          <a:ln/>
        </p:spPr>
      </p:sp>
      <p:sp>
        <p:nvSpPr>
          <p:cNvPr id="13" name="Text 11"/>
          <p:cNvSpPr/>
          <p:nvPr/>
        </p:nvSpPr>
        <p:spPr>
          <a:xfrm>
            <a:off x="868680" y="2834640"/>
            <a:ext cx="3840480" cy="731520"/>
          </a:xfrm>
          <a:prstGeom prst="rect">
            <a:avLst/>
          </a:prstGeom>
          <a:noFill/>
          <a:ln/>
        </p:spPr>
        <p:txBody>
          <a:bodyPr wrap="square" rtlCol="0" anchor="ctr"/>
          <a:lstStyle/>
          <a:p>
            <a:pPr indent="0" marL="0">
              <a:buNone/>
            </a:pPr>
            <a:r>
              <a:rPr lang="en-US" sz="1400" b="1" dirty="0">
                <a:solidFill>
                  <a:srgbClr val="FDD458"/>
                </a:solidFill>
                <a:latin typeface="Calibri" pitchFamily="34" charset="0"/>
                <a:ea typeface="Calibri" pitchFamily="34" charset="-122"/>
                <a:cs typeface="Calibri" pitchFamily="34" charset="-120"/>
              </a:rPr>
              <a:t>Paper trading &amp; analytics (Sprint 8)</a:t>
            </a:r>
            <a:endParaRPr lang="en-US" sz="1400" dirty="0"/>
          </a:p>
        </p:txBody>
      </p:sp>
      <p:sp>
        <p:nvSpPr>
          <p:cNvPr id="14" name="Text 12"/>
          <p:cNvSpPr/>
          <p:nvPr/>
        </p:nvSpPr>
        <p:spPr>
          <a:xfrm>
            <a:off x="4800600" y="2834640"/>
            <a:ext cx="667512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4 models · 8 server actions · 2 pages · 6 components · daily snapshot cron · leaderboard</a:t>
            </a:r>
            <a:endParaRPr lang="en-US" sz="1200" dirty="0"/>
          </a:p>
        </p:txBody>
      </p:sp>
      <p:sp>
        <p:nvSpPr>
          <p:cNvPr id="15" name="Shape 13"/>
          <p:cNvSpPr/>
          <p:nvPr/>
        </p:nvSpPr>
        <p:spPr>
          <a:xfrm>
            <a:off x="548640" y="3794760"/>
            <a:ext cx="11091672" cy="914400"/>
          </a:xfrm>
          <a:prstGeom prst="roundRect">
            <a:avLst>
              <a:gd name="adj" fmla="val 8000"/>
            </a:avLst>
          </a:prstGeom>
          <a:solidFill>
            <a:srgbClr val="141414"/>
          </a:solidFill>
          <a:ln w="12700">
            <a:solidFill>
              <a:srgbClr val="30333A"/>
            </a:solidFill>
            <a:prstDash val="solid"/>
          </a:ln>
        </p:spPr>
      </p:sp>
      <p:sp>
        <p:nvSpPr>
          <p:cNvPr id="16" name="Shape 14"/>
          <p:cNvSpPr/>
          <p:nvPr/>
        </p:nvSpPr>
        <p:spPr>
          <a:xfrm>
            <a:off x="548640" y="3794760"/>
            <a:ext cx="109728" cy="914400"/>
          </a:xfrm>
          <a:prstGeom prst="rect">
            <a:avLst/>
          </a:prstGeom>
          <a:solidFill>
            <a:srgbClr val="D13BFF"/>
          </a:solidFill>
          <a:ln/>
        </p:spPr>
      </p:sp>
      <p:sp>
        <p:nvSpPr>
          <p:cNvPr id="17" name="Text 15"/>
          <p:cNvSpPr/>
          <p:nvPr/>
        </p:nvSpPr>
        <p:spPr>
          <a:xfrm>
            <a:off x="868680" y="3886200"/>
            <a:ext cx="3840480" cy="731520"/>
          </a:xfrm>
          <a:prstGeom prst="rect">
            <a:avLst/>
          </a:prstGeom>
          <a:noFill/>
          <a:ln/>
        </p:spPr>
        <p:txBody>
          <a:bodyPr wrap="square" rtlCol="0" anchor="ctr"/>
          <a:lstStyle/>
          <a:p>
            <a:pPr indent="0" marL="0">
              <a:buNone/>
            </a:pPr>
            <a:r>
              <a:rPr lang="en-US" sz="1400" b="1" dirty="0">
                <a:solidFill>
                  <a:srgbClr val="D13BFF"/>
                </a:solidFill>
                <a:latin typeface="Calibri" pitchFamily="34" charset="0"/>
                <a:ea typeface="Calibri" pitchFamily="34" charset="-122"/>
                <a:cs typeface="Calibri" pitchFamily="34" charset="-120"/>
              </a:rPr>
              <a:t>AI investment assistant (Sprint 9)</a:t>
            </a:r>
            <a:endParaRPr lang="en-US" sz="1400" dirty="0"/>
          </a:p>
        </p:txBody>
      </p:sp>
      <p:sp>
        <p:nvSpPr>
          <p:cNvPr id="18" name="Text 16"/>
          <p:cNvSpPr/>
          <p:nvPr/>
        </p:nvSpPr>
        <p:spPr>
          <a:xfrm>
            <a:off x="4800600" y="3886200"/>
            <a:ext cx="667512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1 model · ~8 server actions · 3 Inngest jobs · chatbot · sentiment timeline · sentiment alerts · weekly recap</a:t>
            </a:r>
            <a:endParaRPr lang="en-US" sz="1200" dirty="0"/>
          </a:p>
        </p:txBody>
      </p:sp>
      <p:sp>
        <p:nvSpPr>
          <p:cNvPr id="19" name="Shape 17"/>
          <p:cNvSpPr/>
          <p:nvPr/>
        </p:nvSpPr>
        <p:spPr>
          <a:xfrm>
            <a:off x="548640" y="4846320"/>
            <a:ext cx="11091672" cy="914400"/>
          </a:xfrm>
          <a:prstGeom prst="roundRect">
            <a:avLst>
              <a:gd name="adj" fmla="val 8000"/>
            </a:avLst>
          </a:prstGeom>
          <a:solidFill>
            <a:srgbClr val="141414"/>
          </a:solidFill>
          <a:ln w="12700">
            <a:solidFill>
              <a:srgbClr val="30333A"/>
            </a:solidFill>
            <a:prstDash val="solid"/>
          </a:ln>
        </p:spPr>
      </p:sp>
      <p:sp>
        <p:nvSpPr>
          <p:cNvPr id="20" name="Shape 18"/>
          <p:cNvSpPr/>
          <p:nvPr/>
        </p:nvSpPr>
        <p:spPr>
          <a:xfrm>
            <a:off x="548640" y="4846320"/>
            <a:ext cx="109728" cy="914400"/>
          </a:xfrm>
          <a:prstGeom prst="rect">
            <a:avLst/>
          </a:prstGeom>
          <a:solidFill>
            <a:srgbClr val="0FEDBE"/>
          </a:solidFill>
          <a:ln/>
        </p:spPr>
      </p:sp>
      <p:sp>
        <p:nvSpPr>
          <p:cNvPr id="21" name="Text 19"/>
          <p:cNvSpPr/>
          <p:nvPr/>
        </p:nvSpPr>
        <p:spPr>
          <a:xfrm>
            <a:off x="868680" y="4937760"/>
            <a:ext cx="3840480" cy="731520"/>
          </a:xfrm>
          <a:prstGeom prst="rect">
            <a:avLst/>
          </a:prstGeom>
          <a:noFill/>
          <a:ln/>
        </p:spPr>
        <p:txBody>
          <a:bodyPr wrap="square" rtlCol="0" anchor="ctr"/>
          <a:lstStyle/>
          <a:p>
            <a:pPr indent="0" marL="0">
              <a:buNone/>
            </a:pPr>
            <a:r>
              <a:rPr lang="en-US" sz="1400" b="1" dirty="0">
                <a:solidFill>
                  <a:srgbClr val="0FEDBE"/>
                </a:solidFill>
                <a:latin typeface="Calibri" pitchFamily="34" charset="0"/>
                <a:ea typeface="Calibri" pitchFamily="34" charset="-122"/>
                <a:cs typeface="Calibri" pitchFamily="34" charset="-120"/>
              </a:rPr>
              <a:t>Docs / Landing / Defense (Sprints 10-12)</a:t>
            </a:r>
            <a:endParaRPr lang="en-US" sz="1400" dirty="0"/>
          </a:p>
        </p:txBody>
      </p:sp>
      <p:sp>
        <p:nvSpPr>
          <p:cNvPr id="22" name="Text 20"/>
          <p:cNvSpPr/>
          <p:nvPr/>
        </p:nvSpPr>
        <p:spPr>
          <a:xfrm>
            <a:off x="4800600" y="4937760"/>
            <a:ext cx="6675120" cy="73152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5 docs + 7 Mermaid diagrams · marketing landing · this slide deck</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Tradeoffs we made</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Conscious cuts — full list in the report</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Shape 5"/>
          <p:cNvSpPr/>
          <p:nvPr/>
        </p:nvSpPr>
        <p:spPr>
          <a:xfrm>
            <a:off x="1371600" y="1783080"/>
            <a:ext cx="9445752" cy="822960"/>
          </a:xfrm>
          <a:prstGeom prst="roundRect">
            <a:avLst>
              <a:gd name="adj" fmla="val 8889"/>
            </a:avLst>
          </a:prstGeom>
          <a:solidFill>
            <a:srgbClr val="141414"/>
          </a:solidFill>
          <a:ln w="12700">
            <a:solidFill>
              <a:srgbClr val="30333A"/>
            </a:solidFill>
            <a:prstDash val="solid"/>
          </a:ln>
        </p:spPr>
      </p:sp>
      <p:sp>
        <p:nvSpPr>
          <p:cNvPr id="8" name="Shape 6"/>
          <p:cNvSpPr/>
          <p:nvPr/>
        </p:nvSpPr>
        <p:spPr>
          <a:xfrm>
            <a:off x="1371600" y="1783080"/>
            <a:ext cx="109728" cy="822960"/>
          </a:xfrm>
          <a:prstGeom prst="rect">
            <a:avLst/>
          </a:prstGeom>
          <a:solidFill>
            <a:srgbClr val="FDD458"/>
          </a:solidFill>
          <a:ln/>
        </p:spPr>
      </p:sp>
      <p:sp>
        <p:nvSpPr>
          <p:cNvPr id="9" name="Text 7"/>
          <p:cNvSpPr/>
          <p:nvPr/>
        </p:nvSpPr>
        <p:spPr>
          <a:xfrm>
            <a:off x="1691640" y="1874520"/>
            <a:ext cx="29260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Cost basis</a:t>
            </a:r>
            <a:endParaRPr lang="en-US" sz="1600" dirty="0"/>
          </a:p>
        </p:txBody>
      </p:sp>
      <p:sp>
        <p:nvSpPr>
          <p:cNvPr id="10" name="Text 8"/>
          <p:cNvSpPr/>
          <p:nvPr/>
        </p:nvSpPr>
        <p:spPr>
          <a:xfrm>
            <a:off x="4709160" y="1874520"/>
            <a:ext cx="5943600" cy="64008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Weighted-average, not FIFO tax lots. Sufficient for paper trading.</a:t>
            </a:r>
            <a:endParaRPr lang="en-US" sz="1200" dirty="0"/>
          </a:p>
        </p:txBody>
      </p:sp>
      <p:sp>
        <p:nvSpPr>
          <p:cNvPr id="11" name="Shape 9"/>
          <p:cNvSpPr/>
          <p:nvPr/>
        </p:nvSpPr>
        <p:spPr>
          <a:xfrm>
            <a:off x="1371600" y="2788920"/>
            <a:ext cx="9445752" cy="822960"/>
          </a:xfrm>
          <a:prstGeom prst="roundRect">
            <a:avLst>
              <a:gd name="adj" fmla="val 8889"/>
            </a:avLst>
          </a:prstGeom>
          <a:solidFill>
            <a:srgbClr val="141414"/>
          </a:solidFill>
          <a:ln w="12700">
            <a:solidFill>
              <a:srgbClr val="30333A"/>
            </a:solidFill>
            <a:prstDash val="solid"/>
          </a:ln>
        </p:spPr>
      </p:sp>
      <p:sp>
        <p:nvSpPr>
          <p:cNvPr id="12" name="Shape 10"/>
          <p:cNvSpPr/>
          <p:nvPr/>
        </p:nvSpPr>
        <p:spPr>
          <a:xfrm>
            <a:off x="1371600" y="2788920"/>
            <a:ext cx="109728" cy="822960"/>
          </a:xfrm>
          <a:prstGeom prst="rect">
            <a:avLst/>
          </a:prstGeom>
          <a:solidFill>
            <a:srgbClr val="0FEDBE"/>
          </a:solidFill>
          <a:ln/>
        </p:spPr>
      </p:sp>
      <p:sp>
        <p:nvSpPr>
          <p:cNvPr id="13" name="Text 11"/>
          <p:cNvSpPr/>
          <p:nvPr/>
        </p:nvSpPr>
        <p:spPr>
          <a:xfrm>
            <a:off x="1691640" y="2880360"/>
            <a:ext cx="29260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Cron throughput</a:t>
            </a:r>
            <a:endParaRPr lang="en-US" sz="1600" dirty="0"/>
          </a:p>
        </p:txBody>
      </p:sp>
      <p:sp>
        <p:nvSpPr>
          <p:cNvPr id="14" name="Text 12"/>
          <p:cNvSpPr/>
          <p:nvPr/>
        </p:nvSpPr>
        <p:spPr>
          <a:xfrm>
            <a:off x="4709160" y="2880360"/>
            <a:ext cx="5943600" cy="64008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Sequential per symbol. Fine up to ~50 symbols. Above that, batch.</a:t>
            </a:r>
            <a:endParaRPr lang="en-US" sz="1200" dirty="0"/>
          </a:p>
        </p:txBody>
      </p:sp>
      <p:sp>
        <p:nvSpPr>
          <p:cNvPr id="15" name="Shape 13"/>
          <p:cNvSpPr/>
          <p:nvPr/>
        </p:nvSpPr>
        <p:spPr>
          <a:xfrm>
            <a:off x="1371600" y="3794760"/>
            <a:ext cx="9445752" cy="822960"/>
          </a:xfrm>
          <a:prstGeom prst="roundRect">
            <a:avLst>
              <a:gd name="adj" fmla="val 8889"/>
            </a:avLst>
          </a:prstGeom>
          <a:solidFill>
            <a:srgbClr val="141414"/>
          </a:solidFill>
          <a:ln w="12700">
            <a:solidFill>
              <a:srgbClr val="30333A"/>
            </a:solidFill>
            <a:prstDash val="solid"/>
          </a:ln>
        </p:spPr>
      </p:sp>
      <p:sp>
        <p:nvSpPr>
          <p:cNvPr id="16" name="Shape 14"/>
          <p:cNvSpPr/>
          <p:nvPr/>
        </p:nvSpPr>
        <p:spPr>
          <a:xfrm>
            <a:off x="1371600" y="3794760"/>
            <a:ext cx="109728" cy="822960"/>
          </a:xfrm>
          <a:prstGeom prst="rect">
            <a:avLst/>
          </a:prstGeom>
          <a:solidFill>
            <a:srgbClr val="D13BFF"/>
          </a:solidFill>
          <a:ln/>
        </p:spPr>
      </p:sp>
      <p:sp>
        <p:nvSpPr>
          <p:cNvPr id="17" name="Text 15"/>
          <p:cNvSpPr/>
          <p:nvPr/>
        </p:nvSpPr>
        <p:spPr>
          <a:xfrm>
            <a:off x="1691640" y="3886200"/>
            <a:ext cx="29260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Sentiment accuracy</a:t>
            </a:r>
            <a:endParaRPr lang="en-US" sz="1600" dirty="0"/>
          </a:p>
        </p:txBody>
      </p:sp>
      <p:sp>
        <p:nvSpPr>
          <p:cNvPr id="18" name="Text 16"/>
          <p:cNvSpPr/>
          <p:nvPr/>
        </p:nvSpPr>
        <p:spPr>
          <a:xfrm>
            <a:off x="4709160" y="3886200"/>
            <a:ext cx="5943600" cy="64008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Not formally measured. Future work — labeled validation set.</a:t>
            </a:r>
            <a:endParaRPr lang="en-US" sz="1200" dirty="0"/>
          </a:p>
        </p:txBody>
      </p:sp>
      <p:sp>
        <p:nvSpPr>
          <p:cNvPr id="19" name="Shape 17"/>
          <p:cNvSpPr/>
          <p:nvPr/>
        </p:nvSpPr>
        <p:spPr>
          <a:xfrm>
            <a:off x="1371600" y="4800600"/>
            <a:ext cx="9445752" cy="822960"/>
          </a:xfrm>
          <a:prstGeom prst="roundRect">
            <a:avLst>
              <a:gd name="adj" fmla="val 8889"/>
            </a:avLst>
          </a:prstGeom>
          <a:solidFill>
            <a:srgbClr val="141414"/>
          </a:solidFill>
          <a:ln w="12700">
            <a:solidFill>
              <a:srgbClr val="30333A"/>
            </a:solidFill>
            <a:prstDash val="solid"/>
          </a:ln>
        </p:spPr>
      </p:sp>
      <p:sp>
        <p:nvSpPr>
          <p:cNvPr id="20" name="Shape 18"/>
          <p:cNvSpPr/>
          <p:nvPr/>
        </p:nvSpPr>
        <p:spPr>
          <a:xfrm>
            <a:off x="1371600" y="4800600"/>
            <a:ext cx="109728" cy="822960"/>
          </a:xfrm>
          <a:prstGeom prst="rect">
            <a:avLst/>
          </a:prstGeom>
          <a:solidFill>
            <a:srgbClr val="FF495B"/>
          </a:solidFill>
          <a:ln/>
        </p:spPr>
      </p:sp>
      <p:sp>
        <p:nvSpPr>
          <p:cNvPr id="21" name="Text 19"/>
          <p:cNvSpPr/>
          <p:nvPr/>
        </p:nvSpPr>
        <p:spPr>
          <a:xfrm>
            <a:off x="1691640" y="4892040"/>
            <a:ext cx="29260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Test coverage</a:t>
            </a:r>
            <a:endParaRPr lang="en-US" sz="1600" dirty="0"/>
          </a:p>
        </p:txBody>
      </p:sp>
      <p:sp>
        <p:nvSpPr>
          <p:cNvPr id="22" name="Text 20"/>
          <p:cNvSpPr/>
          <p:nvPr/>
        </p:nvSpPr>
        <p:spPr>
          <a:xfrm>
            <a:off x="4709160" y="4892040"/>
            <a:ext cx="5943600" cy="640080"/>
          </a:xfrm>
          <a:prstGeom prst="rect">
            <a:avLst/>
          </a:prstGeom>
          <a:noFill/>
          <a:ln/>
        </p:spPr>
        <p:txBody>
          <a:bodyPr wrap="square" rtlCol="0" anchor="ctr"/>
          <a:lstStyle/>
          <a:p>
            <a:pPr indent="0" marL="0">
              <a:buNone/>
            </a:pPr>
            <a:r>
              <a:rPr lang="en-US" sz="1200" dirty="0">
                <a:solidFill>
                  <a:srgbClr val="CCDADC"/>
                </a:solidFill>
                <a:latin typeface="Calibri" pitchFamily="34" charset="0"/>
                <a:ea typeface="Calibri" pitchFamily="34" charset="-122"/>
                <a:cs typeface="Calibri" pitchFamily="34" charset="-120"/>
              </a:rPr>
              <a:t>Manual testing only. Trade math + sentiment parsing are highest priority for tests.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Future work</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1143000"/>
            <a:ext cx="11091672" cy="365760"/>
          </a:xfrm>
          <a:prstGeom prst="rect">
            <a:avLst/>
          </a:prstGeom>
          <a:noFill/>
          <a:ln/>
        </p:spPr>
        <p:txBody>
          <a:bodyPr wrap="square" rtlCol="0" anchor="ctr"/>
          <a:lstStyle/>
          <a:p>
            <a:pPr indent="0" marL="0">
              <a:buNone/>
            </a:pPr>
            <a:r>
              <a:rPr lang="en-US" sz="1300" i="1" dirty="0">
                <a:solidFill>
                  <a:srgbClr val="9095A1"/>
                </a:solidFill>
                <a:latin typeface="Calibri" pitchFamily="34" charset="0"/>
                <a:ea typeface="Calibri" pitchFamily="34" charset="-122"/>
                <a:cs typeface="Calibri" pitchFamily="34" charset="-120"/>
              </a:rPr>
              <a:t>If I had another month</a:t>
            </a:r>
            <a:endParaRPr lang="en-US" sz="1300" dirty="0"/>
          </a:p>
        </p:txBody>
      </p:sp>
      <p:sp>
        <p:nvSpPr>
          <p:cNvPr id="5" name="Text 3"/>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6" name="Text 4"/>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7" name="Text 5"/>
          <p:cNvSpPr/>
          <p:nvPr/>
        </p:nvSpPr>
        <p:spPr>
          <a:xfrm>
            <a:off x="1371600" y="1737360"/>
            <a:ext cx="914400" cy="914400"/>
          </a:xfrm>
          <a:prstGeom prst="rect">
            <a:avLst/>
          </a:prstGeom>
          <a:noFill/>
          <a:ln/>
        </p:spPr>
        <p:txBody>
          <a:bodyPr wrap="square" rtlCol="0" anchor="ctr"/>
          <a:lstStyle/>
          <a:p>
            <a:pPr indent="0" marL="0">
              <a:buNone/>
            </a:pPr>
            <a:r>
              <a:rPr lang="en-US" sz="3600" b="1" dirty="0">
                <a:solidFill>
                  <a:srgbClr val="FDD45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2468880" y="1783080"/>
            <a:ext cx="82296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Tests</a:t>
            </a:r>
            <a:endParaRPr lang="en-US" sz="1800" dirty="0"/>
          </a:p>
        </p:txBody>
      </p:sp>
      <p:sp>
        <p:nvSpPr>
          <p:cNvPr id="9" name="Text 7"/>
          <p:cNvSpPr/>
          <p:nvPr/>
        </p:nvSpPr>
        <p:spPr>
          <a:xfrm>
            <a:off x="2468880" y="2240280"/>
            <a:ext cx="82296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Jest/Vitest on trade math, sentiment parsing, threshold logic.</a:t>
            </a:r>
            <a:endParaRPr lang="en-US" sz="1300" dirty="0"/>
          </a:p>
        </p:txBody>
      </p:sp>
      <p:sp>
        <p:nvSpPr>
          <p:cNvPr id="10" name="Text 8"/>
          <p:cNvSpPr/>
          <p:nvPr/>
        </p:nvSpPr>
        <p:spPr>
          <a:xfrm>
            <a:off x="1371600" y="2743200"/>
            <a:ext cx="914400" cy="914400"/>
          </a:xfrm>
          <a:prstGeom prst="rect">
            <a:avLst/>
          </a:prstGeom>
          <a:noFill/>
          <a:ln/>
        </p:spPr>
        <p:txBody>
          <a:bodyPr wrap="square" rtlCol="0" anchor="ctr"/>
          <a:lstStyle/>
          <a:p>
            <a:pPr indent="0" marL="0">
              <a:buNone/>
            </a:pPr>
            <a:r>
              <a:rPr lang="en-US" sz="3600" b="1" dirty="0">
                <a:solidFill>
                  <a:srgbClr val="FDD458"/>
                </a:solidFill>
                <a:latin typeface="Calibri" pitchFamily="34" charset="0"/>
                <a:ea typeface="Calibri" pitchFamily="34" charset="-122"/>
                <a:cs typeface="Calibri" pitchFamily="34" charset="-120"/>
              </a:rPr>
              <a:t>02</a:t>
            </a:r>
            <a:endParaRPr lang="en-US" sz="3600" dirty="0"/>
          </a:p>
        </p:txBody>
      </p:sp>
      <p:sp>
        <p:nvSpPr>
          <p:cNvPr id="11" name="Text 9"/>
          <p:cNvSpPr/>
          <p:nvPr/>
        </p:nvSpPr>
        <p:spPr>
          <a:xfrm>
            <a:off x="2468880" y="2788920"/>
            <a:ext cx="82296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Backtesting &amp; strategy builder</a:t>
            </a:r>
            <a:endParaRPr lang="en-US" sz="1800" dirty="0"/>
          </a:p>
        </p:txBody>
      </p:sp>
      <p:sp>
        <p:nvSpPr>
          <p:cNvPr id="12" name="Text 10"/>
          <p:cNvSpPr/>
          <p:nvPr/>
        </p:nvSpPr>
        <p:spPr>
          <a:xfrm>
            <a:off x="2468880" y="3246120"/>
            <a:ext cx="82296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SMA/RSI/MACD strategies + return %, drawdown, Sharpe ratio.</a:t>
            </a:r>
            <a:endParaRPr lang="en-US" sz="1300" dirty="0"/>
          </a:p>
        </p:txBody>
      </p:sp>
      <p:sp>
        <p:nvSpPr>
          <p:cNvPr id="13" name="Text 11"/>
          <p:cNvSpPr/>
          <p:nvPr/>
        </p:nvSpPr>
        <p:spPr>
          <a:xfrm>
            <a:off x="1371600" y="3749040"/>
            <a:ext cx="914400" cy="914400"/>
          </a:xfrm>
          <a:prstGeom prst="rect">
            <a:avLst/>
          </a:prstGeom>
          <a:noFill/>
          <a:ln/>
        </p:spPr>
        <p:txBody>
          <a:bodyPr wrap="square" rtlCol="0" anchor="ctr"/>
          <a:lstStyle/>
          <a:p>
            <a:pPr indent="0" marL="0">
              <a:buNone/>
            </a:pPr>
            <a:r>
              <a:rPr lang="en-US" sz="3600" b="1" dirty="0">
                <a:solidFill>
                  <a:srgbClr val="FDD458"/>
                </a:solidFill>
                <a:latin typeface="Calibri" pitchFamily="34" charset="0"/>
                <a:ea typeface="Calibri" pitchFamily="34" charset="-122"/>
                <a:cs typeface="Calibri" pitchFamily="34" charset="-120"/>
              </a:rPr>
              <a:t>03</a:t>
            </a:r>
            <a:endParaRPr lang="en-US" sz="3600" dirty="0"/>
          </a:p>
        </p:txBody>
      </p:sp>
      <p:sp>
        <p:nvSpPr>
          <p:cNvPr id="14" name="Text 12"/>
          <p:cNvSpPr/>
          <p:nvPr/>
        </p:nvSpPr>
        <p:spPr>
          <a:xfrm>
            <a:off x="2468880" y="3794760"/>
            <a:ext cx="82296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Sentiment accuracy study</a:t>
            </a:r>
            <a:endParaRPr lang="en-US" sz="1800" dirty="0"/>
          </a:p>
        </p:txBody>
      </p:sp>
      <p:sp>
        <p:nvSpPr>
          <p:cNvPr id="15" name="Text 13"/>
          <p:cNvSpPr/>
          <p:nvPr/>
        </p:nvSpPr>
        <p:spPr>
          <a:xfrm>
            <a:off x="2468880" y="4251960"/>
            <a:ext cx="82296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Labeled validation set + precision/recall write-up.</a:t>
            </a:r>
            <a:endParaRPr lang="en-US" sz="1300" dirty="0"/>
          </a:p>
        </p:txBody>
      </p:sp>
      <p:sp>
        <p:nvSpPr>
          <p:cNvPr id="16" name="Text 14"/>
          <p:cNvSpPr/>
          <p:nvPr/>
        </p:nvSpPr>
        <p:spPr>
          <a:xfrm>
            <a:off x="1371600" y="4754880"/>
            <a:ext cx="914400" cy="914400"/>
          </a:xfrm>
          <a:prstGeom prst="rect">
            <a:avLst/>
          </a:prstGeom>
          <a:noFill/>
          <a:ln/>
        </p:spPr>
        <p:txBody>
          <a:bodyPr wrap="square" rtlCol="0" anchor="ctr"/>
          <a:lstStyle/>
          <a:p>
            <a:pPr indent="0" marL="0">
              <a:buNone/>
            </a:pPr>
            <a:r>
              <a:rPr lang="en-US" sz="3600" b="1" dirty="0">
                <a:solidFill>
                  <a:srgbClr val="FDD458"/>
                </a:solidFill>
                <a:latin typeface="Calibri" pitchFamily="34" charset="0"/>
                <a:ea typeface="Calibri" pitchFamily="34" charset="-122"/>
                <a:cs typeface="Calibri" pitchFamily="34" charset="-120"/>
              </a:rPr>
              <a:t>04</a:t>
            </a:r>
            <a:endParaRPr lang="en-US" sz="3600" dirty="0"/>
          </a:p>
        </p:txBody>
      </p:sp>
      <p:sp>
        <p:nvSpPr>
          <p:cNvPr id="17" name="Text 15"/>
          <p:cNvSpPr/>
          <p:nvPr/>
        </p:nvSpPr>
        <p:spPr>
          <a:xfrm>
            <a:off x="2468880" y="4800600"/>
            <a:ext cx="82296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Streaming chatbot</a:t>
            </a:r>
            <a:endParaRPr lang="en-US" sz="1800" dirty="0"/>
          </a:p>
        </p:txBody>
      </p:sp>
      <p:sp>
        <p:nvSpPr>
          <p:cNvPr id="18" name="Text 16"/>
          <p:cNvSpPr/>
          <p:nvPr/>
        </p:nvSpPr>
        <p:spPr>
          <a:xfrm>
            <a:off x="2468880" y="5257800"/>
            <a:ext cx="8229600" cy="457200"/>
          </a:xfrm>
          <a:prstGeom prst="rect">
            <a:avLst/>
          </a:prstGeom>
          <a:noFill/>
          <a:ln/>
        </p:spPr>
        <p:txBody>
          <a:bodyPr wrap="square" rtlCol="0" anchor="ctr"/>
          <a:lstStyle/>
          <a:p>
            <a:pPr indent="0" marL="0">
              <a:buNone/>
            </a:pPr>
            <a:r>
              <a:rPr lang="en-US" sz="1300" dirty="0">
                <a:solidFill>
                  <a:srgbClr val="CCDADC"/>
                </a:solidFill>
                <a:latin typeface="Calibri" pitchFamily="34" charset="0"/>
                <a:ea typeface="Calibri" pitchFamily="34" charset="-122"/>
                <a:cs typeface="Calibri" pitchFamily="34" charset="-120"/>
              </a:rPr>
              <a:t>SSE for token-by-token responses.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3" name="Shape 1"/>
          <p:cNvSpPr/>
          <p:nvPr/>
        </p:nvSpPr>
        <p:spPr>
          <a:xfrm>
            <a:off x="548640" y="1033272"/>
            <a:ext cx="548640" cy="54864"/>
          </a:xfrm>
          <a:prstGeom prst="rect">
            <a:avLst/>
          </a:prstGeom>
          <a:solidFill>
            <a:srgbClr val="FDD458"/>
          </a:solidFill>
          <a:ln/>
        </p:spPr>
      </p:sp>
      <p:sp>
        <p:nvSpPr>
          <p:cNvPr id="4" name="Text 2"/>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5" name="Text 3"/>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
        <p:nvSpPr>
          <p:cNvPr id="6" name="Shape 4"/>
          <p:cNvSpPr/>
          <p:nvPr/>
        </p:nvSpPr>
        <p:spPr>
          <a:xfrm>
            <a:off x="1371600" y="1828800"/>
            <a:ext cx="137160" cy="1097280"/>
          </a:xfrm>
          <a:prstGeom prst="rect">
            <a:avLst/>
          </a:prstGeom>
          <a:solidFill>
            <a:srgbClr val="FDD458"/>
          </a:solidFill>
          <a:ln/>
        </p:spPr>
      </p:sp>
      <p:sp>
        <p:nvSpPr>
          <p:cNvPr id="7" name="Text 5"/>
          <p:cNvSpPr/>
          <p:nvPr/>
        </p:nvSpPr>
        <p:spPr>
          <a:xfrm>
            <a:off x="1691640" y="1920240"/>
            <a:ext cx="9144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12 sprints · ~3 months</a:t>
            </a:r>
            <a:endParaRPr lang="en-US" sz="2200" dirty="0"/>
          </a:p>
        </p:txBody>
      </p:sp>
      <p:sp>
        <p:nvSpPr>
          <p:cNvPr id="8" name="Text 6"/>
          <p:cNvSpPr/>
          <p:nvPr/>
        </p:nvSpPr>
        <p:spPr>
          <a:xfrm>
            <a:off x="1691640" y="2423160"/>
            <a:ext cx="9144000" cy="457200"/>
          </a:xfrm>
          <a:prstGeom prst="rect">
            <a:avLst/>
          </a:prstGeom>
          <a:noFill/>
          <a:ln/>
        </p:spPr>
        <p:txBody>
          <a:bodyPr wrap="square" rtlCol="0" anchor="ctr"/>
          <a:lstStyle/>
          <a:p>
            <a:pPr indent="0" marL="0">
              <a:buNone/>
            </a:pPr>
            <a:r>
              <a:rPr lang="en-US" sz="1400" i="1" dirty="0">
                <a:solidFill>
                  <a:srgbClr val="CCDADC"/>
                </a:solidFill>
                <a:latin typeface="Calibri" pitchFamily="34" charset="0"/>
                <a:ea typeface="Calibri" pitchFamily="34" charset="-122"/>
                <a:cs typeface="Calibri" pitchFamily="34" charset="-120"/>
              </a:rPr>
              <a:t>of full-stack engineering on top of a public tutorial baseline.</a:t>
            </a:r>
            <a:endParaRPr lang="en-US" sz="1400" dirty="0"/>
          </a:p>
        </p:txBody>
      </p:sp>
      <p:sp>
        <p:nvSpPr>
          <p:cNvPr id="9" name="Shape 7"/>
          <p:cNvSpPr/>
          <p:nvPr/>
        </p:nvSpPr>
        <p:spPr>
          <a:xfrm>
            <a:off x="1371600" y="3200400"/>
            <a:ext cx="137160" cy="1097280"/>
          </a:xfrm>
          <a:prstGeom prst="rect">
            <a:avLst/>
          </a:prstGeom>
          <a:solidFill>
            <a:srgbClr val="0FEDBE"/>
          </a:solidFill>
          <a:ln/>
        </p:spPr>
      </p:sp>
      <p:sp>
        <p:nvSpPr>
          <p:cNvPr id="10" name="Text 8"/>
          <p:cNvSpPr/>
          <p:nvPr/>
        </p:nvSpPr>
        <p:spPr>
          <a:xfrm>
            <a:off x="1691640" y="3291840"/>
            <a:ext cx="9144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Atomic trades · AI sentiment · Two-path Gemini</a:t>
            </a:r>
            <a:endParaRPr lang="en-US" sz="2200" dirty="0"/>
          </a:p>
        </p:txBody>
      </p:sp>
      <p:sp>
        <p:nvSpPr>
          <p:cNvPr id="11" name="Text 9"/>
          <p:cNvSpPr/>
          <p:nvPr/>
        </p:nvSpPr>
        <p:spPr>
          <a:xfrm>
            <a:off x="1691640" y="3794760"/>
            <a:ext cx="9144000" cy="457200"/>
          </a:xfrm>
          <a:prstGeom prst="rect">
            <a:avLst/>
          </a:prstGeom>
          <a:noFill/>
          <a:ln/>
        </p:spPr>
        <p:txBody>
          <a:bodyPr wrap="square" rtlCol="0" anchor="ctr"/>
          <a:lstStyle/>
          <a:p>
            <a:pPr indent="0" marL="0">
              <a:buNone/>
            </a:pPr>
            <a:r>
              <a:rPr lang="en-US" sz="1400" i="1" dirty="0">
                <a:solidFill>
                  <a:srgbClr val="CCDADC"/>
                </a:solidFill>
                <a:latin typeface="Calibri" pitchFamily="34" charset="0"/>
                <a:ea typeface="Calibri" pitchFamily="34" charset="-122"/>
                <a:cs typeface="Calibri" pitchFamily="34" charset="-120"/>
              </a:rPr>
              <a:t>where the technical depth lives.</a:t>
            </a:r>
            <a:endParaRPr lang="en-US" sz="1400" dirty="0"/>
          </a:p>
        </p:txBody>
      </p:sp>
      <p:sp>
        <p:nvSpPr>
          <p:cNvPr id="12" name="Shape 10"/>
          <p:cNvSpPr/>
          <p:nvPr/>
        </p:nvSpPr>
        <p:spPr>
          <a:xfrm>
            <a:off x="1371600" y="4572000"/>
            <a:ext cx="137160" cy="1097280"/>
          </a:xfrm>
          <a:prstGeom prst="rect">
            <a:avLst/>
          </a:prstGeom>
          <a:solidFill>
            <a:srgbClr val="D13BFF"/>
          </a:solidFill>
          <a:ln/>
        </p:spPr>
      </p:sp>
      <p:sp>
        <p:nvSpPr>
          <p:cNvPr id="13" name="Text 11"/>
          <p:cNvSpPr/>
          <p:nvPr/>
        </p:nvSpPr>
        <p:spPr>
          <a:xfrm>
            <a:off x="1691640" y="4663440"/>
            <a:ext cx="9144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Fully documented</a:t>
            </a:r>
            <a:endParaRPr lang="en-US" sz="2200" dirty="0"/>
          </a:p>
        </p:txBody>
      </p:sp>
      <p:sp>
        <p:nvSpPr>
          <p:cNvPr id="14" name="Text 12"/>
          <p:cNvSpPr/>
          <p:nvPr/>
        </p:nvSpPr>
        <p:spPr>
          <a:xfrm>
            <a:off x="1691640" y="5166360"/>
            <a:ext cx="9144000" cy="457200"/>
          </a:xfrm>
          <a:prstGeom prst="rect">
            <a:avLst/>
          </a:prstGeom>
          <a:noFill/>
          <a:ln/>
        </p:spPr>
        <p:txBody>
          <a:bodyPr wrap="square" rtlCol="0" anchor="ctr"/>
          <a:lstStyle/>
          <a:p>
            <a:pPr indent="0" marL="0">
              <a:buNone/>
            </a:pPr>
            <a:r>
              <a:rPr lang="en-US" sz="1400" i="1" dirty="0">
                <a:solidFill>
                  <a:srgbClr val="CCDADC"/>
                </a:solidFill>
                <a:latin typeface="Calibri" pitchFamily="34" charset="0"/>
                <a:ea typeface="Calibri" pitchFamily="34" charset="-122"/>
                <a:cs typeface="Calibri" pitchFamily="34" charset="-120"/>
              </a:rPr>
              <a:t>README · ARCHITECTURE · PIPELINES · METHODOLOGY · PFA_LOG.</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718304" y="2468880"/>
            <a:ext cx="2743200" cy="91440"/>
          </a:xfrm>
          <a:prstGeom prst="rect">
            <a:avLst/>
          </a:prstGeom>
          <a:solidFill>
            <a:srgbClr val="FDD458"/>
          </a:solidFill>
          <a:ln/>
        </p:spPr>
      </p:sp>
      <p:sp>
        <p:nvSpPr>
          <p:cNvPr id="3" name="Text 1"/>
          <p:cNvSpPr/>
          <p:nvPr/>
        </p:nvSpPr>
        <p:spPr>
          <a:xfrm>
            <a:off x="914400" y="2651760"/>
            <a:ext cx="10360152" cy="1280160"/>
          </a:xfrm>
          <a:prstGeom prst="rect">
            <a:avLst/>
          </a:prstGeom>
          <a:noFill/>
          <a:ln/>
        </p:spPr>
        <p:txBody>
          <a:bodyPr wrap="square" rtlCol="0" anchor="ctr"/>
          <a:lstStyle/>
          <a:p>
            <a:pPr algn="ctr" indent="0" marL="0">
              <a:buNone/>
            </a:pPr>
            <a:r>
              <a:rPr lang="en-US" sz="7200" b="1" dirty="0">
                <a:solidFill>
                  <a:srgbClr val="FDD458"/>
                </a:solidFill>
                <a:latin typeface="Calibri" pitchFamily="34" charset="0"/>
                <a:ea typeface="Calibri" pitchFamily="34" charset="-122"/>
                <a:cs typeface="Calibri" pitchFamily="34" charset="-120"/>
              </a:rPr>
              <a:t>Thank you</a:t>
            </a:r>
            <a:endParaRPr lang="en-US" sz="7200" dirty="0"/>
          </a:p>
        </p:txBody>
      </p:sp>
      <p:sp>
        <p:nvSpPr>
          <p:cNvPr id="4" name="Text 2"/>
          <p:cNvSpPr/>
          <p:nvPr/>
        </p:nvSpPr>
        <p:spPr>
          <a:xfrm>
            <a:off x="914400" y="4114800"/>
            <a:ext cx="10360152" cy="731520"/>
          </a:xfrm>
          <a:prstGeom prst="rect">
            <a:avLst/>
          </a:prstGeom>
          <a:noFill/>
          <a:ln/>
        </p:spPr>
        <p:txBody>
          <a:bodyPr wrap="square" rtlCol="0" anchor="ctr"/>
          <a:lstStyle/>
          <a:p>
            <a:pPr algn="ctr" indent="0" marL="0">
              <a:buNone/>
            </a:pPr>
            <a:r>
              <a:rPr lang="en-US" sz="3200" dirty="0">
                <a:solidFill>
                  <a:srgbClr val="CCDADC"/>
                </a:solidFill>
                <a:latin typeface="Calibri" pitchFamily="34" charset="0"/>
                <a:ea typeface="Calibri" pitchFamily="34" charset="-122"/>
                <a:cs typeface="Calibri" pitchFamily="34" charset="-120"/>
              </a:rPr>
              <a:t>Questions?</a:t>
            </a:r>
            <a:endParaRPr lang="en-US" sz="3200" dirty="0"/>
          </a:p>
        </p:txBody>
      </p:sp>
      <p:sp>
        <p:nvSpPr>
          <p:cNvPr id="5" name="Text 3"/>
          <p:cNvSpPr/>
          <p:nvPr/>
        </p:nvSpPr>
        <p:spPr>
          <a:xfrm>
            <a:off x="914400" y="5212080"/>
            <a:ext cx="10360152" cy="365760"/>
          </a:xfrm>
          <a:prstGeom prst="rect">
            <a:avLst/>
          </a:prstGeom>
          <a:noFill/>
          <a:ln/>
        </p:spPr>
        <p:txBody>
          <a:bodyPr wrap="square" rtlCol="0" anchor="ctr"/>
          <a:lstStyle/>
          <a:p>
            <a:pPr algn="ctr" indent="0" marL="0">
              <a:buNone/>
            </a:pPr>
            <a:r>
              <a:rPr lang="en-US" sz="1300" dirty="0">
                <a:solidFill>
                  <a:srgbClr val="9095A1"/>
                </a:solidFill>
                <a:latin typeface="Calibri" pitchFamily="34" charset="0"/>
                <a:ea typeface="Calibri" pitchFamily="34" charset="-122"/>
                <a:cs typeface="Calibri" pitchFamily="34" charset="-120"/>
              </a:rPr>
              <a:t>[Your contact email]   ·   [Your repo URL]</a:t>
            </a:r>
            <a:endParaRPr lang="en-US" sz="1300" dirty="0"/>
          </a:p>
        </p:txBody>
      </p:sp>
      <p:sp>
        <p:nvSpPr>
          <p:cNvPr id="6" name="Text 4"/>
          <p:cNvSpPr/>
          <p:nvPr/>
        </p:nvSpPr>
        <p:spPr>
          <a:xfrm>
            <a:off x="548640" y="6446520"/>
            <a:ext cx="2743200" cy="274320"/>
          </a:xfrm>
          <a:prstGeom prst="rect">
            <a:avLst/>
          </a:prstGeom>
          <a:noFill/>
          <a:ln/>
        </p:spPr>
        <p:txBody>
          <a:bodyPr wrap="square" rtlCol="0" anchor="ctr"/>
          <a:lstStyle/>
          <a:p>
            <a:pPr indent="0" marL="0">
              <a:buNone/>
            </a:pPr>
            <a:r>
              <a:rPr lang="en-US" sz="900" dirty="0">
                <a:solidFill>
                  <a:srgbClr val="9095A1"/>
                </a:solidFill>
                <a:latin typeface="Calibri" pitchFamily="34" charset="0"/>
                <a:ea typeface="Calibri" pitchFamily="34" charset="-122"/>
                <a:cs typeface="Calibri" pitchFamily="34" charset="-120"/>
              </a:rPr>
              <a:t>WealthFlow</a:t>
            </a:r>
            <a:endParaRPr lang="en-US" sz="900" dirty="0"/>
          </a:p>
        </p:txBody>
      </p:sp>
      <p:sp>
        <p:nvSpPr>
          <p:cNvPr id="7" name="Text 5"/>
          <p:cNvSpPr/>
          <p:nvPr/>
        </p:nvSpPr>
        <p:spPr>
          <a:xfrm>
            <a:off x="8897112" y="6446520"/>
            <a:ext cx="2743200" cy="274320"/>
          </a:xfrm>
          <a:prstGeom prst="rect">
            <a:avLst/>
          </a:prstGeom>
          <a:noFill/>
          <a:ln/>
        </p:spPr>
        <p:txBody>
          <a:bodyPr wrap="square" rtlCol="0" anchor="ctr"/>
          <a:lstStyle/>
          <a:p>
            <a:pPr algn="r" indent="0" marL="0">
              <a:buNone/>
            </a:pPr>
            <a:r>
              <a:rPr lang="en-US" sz="900" dirty="0">
                <a:solidFill>
                  <a:srgbClr val="9095A1"/>
                </a:solidFill>
                <a:latin typeface="Calibri" pitchFamily="34" charset="0"/>
                <a:ea typeface="Calibri" pitchFamily="34" charset="-122"/>
                <a:cs typeface="Calibri" pitchFamily="34" charset="-120"/>
              </a:rPr>
              <a:t>PFA Defense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WealthFlow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WealthFlow — PFA Defense</dc:title>
  <dc:subject>PFA Defense — AI-augmented stock research</dc:subject>
  <dc:creator>Mahdi Elfaleh</dc:creator>
  <cp:lastModifiedBy>Mahdi Elfaleh</cp:lastModifiedBy>
  <cp:revision>1</cp:revision>
  <dcterms:created xsi:type="dcterms:W3CDTF">2026-05-10T23:55:09Z</dcterms:created>
  <dcterms:modified xsi:type="dcterms:W3CDTF">2026-05-10T23:55:09Z</dcterms:modified>
</cp:coreProperties>
</file>